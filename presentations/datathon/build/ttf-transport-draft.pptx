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font/ttf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b026e10c35405e" /><Relationship Type="http://schemas.openxmlformats.org/officeDocument/2006/relationships/extended-properties" Target="/docProps/app.xml" Id="Rda53e1b08a0d4a13" /><Relationship Type="http://schemas.openxmlformats.org/officeDocument/2006/relationships/officeDocument" Target="/ppt/presentation.xml" Id="Re9eefdcad382450a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398411b371847cc"/>
  </p:sldMasterIdLst>
  <p:notesMasterIdLst>
    <p:notesMasterId xmlns:r="http://schemas.openxmlformats.org/officeDocument/2006/relationships" r:id="R8d4fc11d3fa94c0d"/>
  </p:notesMasterIdLst>
  <p:sldIdLst>
    <p:sldId xmlns:r="http://schemas.openxmlformats.org/officeDocument/2006/relationships" id="256" r:id="R0ab49221286a47fe"/>
    <p:sldId xmlns:r="http://schemas.openxmlformats.org/officeDocument/2006/relationships" id="257" r:id="Red1191c2cc614b1b"/>
    <p:sldId xmlns:r="http://schemas.openxmlformats.org/officeDocument/2006/relationships" id="258" r:id="Rca44e896572248ad"/>
    <p:sldId xmlns:r="http://schemas.openxmlformats.org/officeDocument/2006/relationships" id="259" r:id="R3582d4231fa74cf9"/>
    <p:sldId xmlns:r="http://schemas.openxmlformats.org/officeDocument/2006/relationships" id="260" r:id="Re3f7cc8fcf004dc6"/>
    <p:sldId xmlns:r="http://schemas.openxmlformats.org/officeDocument/2006/relationships" id="261" r:id="Rbf6471cfb0c049a6"/>
    <p:sldId xmlns:r="http://schemas.openxmlformats.org/officeDocument/2006/relationships" id="262" r:id="Ree256d24eead4c87"/>
    <p:sldId xmlns:r="http://schemas.openxmlformats.org/officeDocument/2006/relationships" id="263" r:id="Ra0a3d7bdc6d14e7a"/>
    <p:sldId xmlns:r="http://schemas.openxmlformats.org/officeDocument/2006/relationships" id="264" r:id="Re91ebd9357544f93"/>
    <p:sldId xmlns:r="http://schemas.openxmlformats.org/officeDocument/2006/relationships" id="265" r:id="R93bbc6c541464d0f"/>
    <p:sldId xmlns:r="http://schemas.openxmlformats.org/officeDocument/2006/relationships" id="266" r:id="R06a104a639064b6f"/>
    <p:sldId xmlns:r="http://schemas.openxmlformats.org/officeDocument/2006/relationships" id="267" r:id="Ree592e7fe4d244e4"/>
    <p:sldId xmlns:r="http://schemas.openxmlformats.org/officeDocument/2006/relationships" id="268" r:id="R5383b113357e49f5"/>
    <p:sldId xmlns:r="http://schemas.openxmlformats.org/officeDocument/2006/relationships" id="269" r:id="Rcf53b6d3029b4788"/>
    <p:sldId xmlns:r="http://schemas.openxmlformats.org/officeDocument/2006/relationships" id="270" r:id="R108410669f484d16"/>
  </p:sldIdLst>
  <p:sldSz cx="12192000" cy="6858000"/>
  <p:notesSz cx="6858000" cy="9144000"/>
  <p:embeddedFontLst>
    <p:embeddedFont>
      <p:font typeface="UpMax"/>
      <p:regular xmlns:r="http://schemas.openxmlformats.org/officeDocument/2006/relationships" r:id="Re7d1cfada1544511"/>
      <p:bold xmlns:r="http://schemas.openxmlformats.org/officeDocument/2006/relationships" r:id="Rde2cac22ed834de3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2e1d7f9f0441c7" /><Relationship Type="http://schemas.openxmlformats.org/officeDocument/2006/relationships/slideMaster" Target="/ppt/slideMasters/slideMaster1.xml" Id="Rb398411b371847cc" /><Relationship Type="http://schemas.openxmlformats.org/officeDocument/2006/relationships/notesMaster" Target="/ppt/notesMasters/notesMaster1.xml" Id="R8d4fc11d3fa94c0d" /><Relationship Type="http://schemas.openxmlformats.org/officeDocument/2006/relationships/presProps" Target="/ppt/presProps.xml" Id="R3192d8bf8c6a4bca" /><Relationship Type="http://schemas.openxmlformats.org/officeDocument/2006/relationships/tableStyles" Target="/ppt/tableStyles.xml" Id="R68c674505ef64790" /><Relationship Type="http://schemas.openxmlformats.org/officeDocument/2006/relationships/font" Target="/ppt/fonts/font.dat" Id="Re7d1cfada1544511" /><Relationship Type="http://schemas.openxmlformats.org/officeDocument/2006/relationships/font" Target="/ppt/fonts/font2.dat" Id="Rde2cac22ed834de3" /><Relationship Type="http://schemas.openxmlformats.org/officeDocument/2006/relationships/slide" Target="/ppt/slides/slide1.xml" Id="R0ab49221286a47fe" /><Relationship Type="http://schemas.openxmlformats.org/officeDocument/2006/relationships/slide" Target="/ppt/slides/slide2.xml" Id="Red1191c2cc614b1b" /><Relationship Type="http://schemas.openxmlformats.org/officeDocument/2006/relationships/slide" Target="/ppt/slides/slide3.xml" Id="Rca44e896572248ad" /><Relationship Type="http://schemas.openxmlformats.org/officeDocument/2006/relationships/slide" Target="/ppt/slides/slide4.xml" Id="R3582d4231fa74cf9" /><Relationship Type="http://schemas.openxmlformats.org/officeDocument/2006/relationships/slide" Target="/ppt/slides/slide5.xml" Id="Re3f7cc8fcf004dc6" /><Relationship Type="http://schemas.openxmlformats.org/officeDocument/2006/relationships/slide" Target="/ppt/slides/slide6.xml" Id="Rbf6471cfb0c049a6" /><Relationship Type="http://schemas.openxmlformats.org/officeDocument/2006/relationships/slide" Target="/ppt/slides/slide7.xml" Id="Ree256d24eead4c87" /><Relationship Type="http://schemas.openxmlformats.org/officeDocument/2006/relationships/slide" Target="/ppt/slides/slide8.xml" Id="Ra0a3d7bdc6d14e7a" /><Relationship Type="http://schemas.openxmlformats.org/officeDocument/2006/relationships/slide" Target="/ppt/slides/slide9.xml" Id="Re91ebd9357544f93" /><Relationship Type="http://schemas.openxmlformats.org/officeDocument/2006/relationships/slide" Target="/ppt/slides/slide10.xml" Id="R93bbc6c541464d0f" /><Relationship Type="http://schemas.openxmlformats.org/officeDocument/2006/relationships/slide" Target="/ppt/slides/slide11.xml" Id="R06a104a639064b6f" /><Relationship Type="http://schemas.openxmlformats.org/officeDocument/2006/relationships/slide" Target="/ppt/slides/slide12.xml" Id="Ree592e7fe4d244e4" /><Relationship Type="http://schemas.openxmlformats.org/officeDocument/2006/relationships/slide" Target="/ppt/slides/slide13.xml" Id="R5383b113357e49f5" /><Relationship Type="http://schemas.openxmlformats.org/officeDocument/2006/relationships/slide" Target="/ppt/slides/slide14.xml" Id="Rcf53b6d3029b4788" /><Relationship Type="http://schemas.openxmlformats.org/officeDocument/2006/relationships/slide" Target="/ppt/slides/slide15.xml" Id="R108410669f484d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a47b08528741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FORTE">
      <a:dk1>
        <a:srgbClr val="191919"/>
      </a:dk1>
      <a:lt1>
        <a:srgbClr val="FFFFFF"/>
      </a:lt1>
      <a:dk2>
        <a:srgbClr val="861044"/>
      </a:dk2>
      <a:lt2>
        <a:srgbClr val="F2F2F2"/>
      </a:lt2>
      <a:accent1>
        <a:srgbClr val="A31551"/>
      </a:accent1>
      <a:accent2>
        <a:srgbClr val="861044"/>
      </a:accent2>
      <a:accent3>
        <a:srgbClr val="191919"/>
      </a:accent3>
      <a:accent4>
        <a:srgbClr val="C8C8C8"/>
      </a:accent4>
      <a:accent5>
        <a:srgbClr val="E8D1DB"/>
      </a:accent5>
      <a:accent6>
        <a:srgbClr val="6F6F6F"/>
      </a:accent6>
      <a:hlink>
        <a:srgbClr val="A31551"/>
      </a:hlink>
      <a:folHlink>
        <a:srgbClr val="861044"/>
      </a:folHlink>
    </a:clrScheme>
    <a:fontScheme name="">
      <a:majorFont>
        <a:latin typeface="UpMax"/>
        <a:ea typeface=""/>
        <a:cs typeface=""/>
      </a:majorFont>
      <a:minorFont>
        <a:latin typeface="UpMax"/>
        <a:ea typeface=""/>
        <a:cs typeface=""/>
      </a:minorFont>
    </a:fontScheme>
    <a:fmtScheme name="FOR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ef31d82b9f4cbe" /><Relationship Type="http://schemas.openxmlformats.org/officeDocument/2006/relationships/notesMaster" Target="/ppt/notesMasters/notesMaster1.xml" Id="R4bfba18a3dcd42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2f69c01e0740fc" /><Relationship Type="http://schemas.openxmlformats.org/officeDocument/2006/relationships/notesMaster" Target="/ppt/notesMasters/notesMaster1.xml" Id="Ree4b41a948354c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f6bca945f542ed" /><Relationship Type="http://schemas.openxmlformats.org/officeDocument/2006/relationships/notesMaster" Target="/ppt/notesMasters/notesMaster1.xml" Id="R562ae1fa6cca49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da6d7f58bc4b4a" /><Relationship Type="http://schemas.openxmlformats.org/officeDocument/2006/relationships/notesMaster" Target="/ppt/notesMasters/notesMaster1.xml" Id="Rece63f0c200c47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b7d890c92b4e00" /><Relationship Type="http://schemas.openxmlformats.org/officeDocument/2006/relationships/notesMaster" Target="/ppt/notesMasters/notesMaster1.xml" Id="R09a7df20ed564f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784410293e4143" /><Relationship Type="http://schemas.openxmlformats.org/officeDocument/2006/relationships/notesMaster" Target="/ppt/notesMasters/notesMaster1.xml" Id="R3e64e33de7984e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bf3a9c1a154e43" /><Relationship Type="http://schemas.openxmlformats.org/officeDocument/2006/relationships/notesMaster" Target="/ppt/notesMasters/notesMaster1.xml" Id="Rffdc7f33e7cb43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a45ad85f2a4205" /><Relationship Type="http://schemas.openxmlformats.org/officeDocument/2006/relationships/notesMaster" Target="/ppt/notesMasters/notesMaster1.xml" Id="R8c0fd1fbc6704d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79d13d36fe4f8c" /><Relationship Type="http://schemas.openxmlformats.org/officeDocument/2006/relationships/notesMaster" Target="/ppt/notesMasters/notesMaster1.xml" Id="Rc614a1fcaf9d4c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c55d66a3e44a4f" /><Relationship Type="http://schemas.openxmlformats.org/officeDocument/2006/relationships/notesMaster" Target="/ppt/notesMasters/notesMaster1.xml" Id="R6abe86fd4ffb47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99fd6c0b264d11" /><Relationship Type="http://schemas.openxmlformats.org/officeDocument/2006/relationships/notesMaster" Target="/ppt/notesMasters/notesMaster1.xml" Id="Rb45ea53f5e6644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b6244e0be2482e" /><Relationship Type="http://schemas.openxmlformats.org/officeDocument/2006/relationships/notesMaster" Target="/ppt/notesMasters/notesMaster1.xml" Id="R8709dacb66d049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190b47bde74665" /><Relationship Type="http://schemas.openxmlformats.org/officeDocument/2006/relationships/notesMaster" Target="/ppt/notesMasters/notesMaster1.xml" Id="Rb180cd748fb941c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99483c3f48f41d0" /><Relationship Type="http://schemas.openxmlformats.org/officeDocument/2006/relationships/notesMaster" Target="/ppt/notesMasters/notesMaster1.xml" Id="R36a2c6ff0dd94ab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f2839799f4c4c47" /><Relationship Type="http://schemas.openxmlformats.org/officeDocument/2006/relationships/notesMaster" Target="/ppt/notesMasters/notesMaster1.xml" Id="R59a020f65dfd49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сделали FORTE Panopticon для визуальной проверки кассовых операций. Пользователь загружает видео и получает события с исходными кадрами, временем и привязкой к правилу. Проверяющий видит, на чём основан результат. За пять минут покажем продукт, устройство анализа и измеренные результаты.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Кейс_ForteBank.docx.pdf, разделы 1–8 и FAQ 19. Название команды: по запросу пользователя WEZESO. Оригинальный логотип: logo/Group 1.svg. Дизайн и шрифт UpMax: https://www.zimran.io/ и web/public/zimran/SOURCES.md. Палитра пользователя #A31551.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кейсе банка задача проста: ручной просмотр требует времени, а проверяющему нужен конкретный фрагмент. Полного внутреннего регламента и данных банковских систем у команды нет. Поэтому мы ищем только наблюдаемые признаки и показываем основание для дальнейшей проверки.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Кейс_ForteBank.docx.pdf, разделы 1, 3, 6, 7. Иллюстрация assets/cashier-illustration.png создана встроенным image_gen. Не является записью банка. Prompt: editorial isometric cashier workstation, security camera, desk, cash, laptop, safe; angular cut-paper style; #A31551/#861044/black/off-white; no people/text/logo.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реальный интерфейс продукта. Пользователь загружает MOV-файл, видит статус и получает результат без ручного запуска кода. API работает в два шага: загрузка возвращает job_id, а запрос статуса возвращает результат или ошибку. Ключ передаётся отдельно и не размещается в презентации.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Реальный снимок production UI: dist/hero-release-20261018/production-hero.png, https://hackathon.wezeso.me/. Требования: Кейс_ForteBank.docx.pdf, разделы 4, 10. Реализация web/src; docs/integration/acceptance.md. Снимок не является демонстрацией нового анализа.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результате можно открыть несколько событий, перейти к исходной записи, посмотреть JPEG и точное время от начала видео. Справа находятся наблюдение, ссылка на источник и ограничения видимости. На слайде синтетическая проверка интерфейса. Её содержание не подтверждает точность модели. Частные банковские кадры остаются внутри разрешённого сервиса.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web/qa/screenshots/positive-multiple-desktop.png. Синтетический fixture review-synthetic.mov с TEST-1 и искусственным изображением. Не реальная кассовая операция, не результат accuracy-теста. docs/submission/pitch.md запрещает помещать частные кадры в публичные слайды.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Принятый путь использует локальный Qwen3-VL-30B-A3B-Instruct через vLLM на A100. Из видео берём кадры и области сцены, проверяем изменения во времени и повторно подтверждаем кандидатов через VLM. Durable queue отделяет загрузку от обработки. После загрузки весов обработка не требует внешнего AI API. Специализированные дообученные детекторы в live-путь не включены.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README.md; docs/submission/pitch.md; docs/integration/accuracy-upgrade-implementation-20261018.md; src/forte/fast/. Принятый профиль: require_corroboration=true, use_verify=true, specialists.enabled=false. Это схема работающего пути, не обещание дообученной системы.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Каждое событие содержит наблюдаемый признак и ссылку на открытый источник. Для кассовых процедур каталог использует НБРК №231, для устройства и доступа в кассовый узел НБРК №14. Наличие признака не доказывает полномочия человека, завершение операции или нарушение нормы. Система не получает АБИС и внутренние журналы банка.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src/forte/fast/catalog.py и src/forte/fast/policy.py. Открытые источники: https://adilet.zan.kz/rus/docs/V1900019680 (НБРК №231), https://adilet.zan.kz/rus/docs/V2000020075 (НБРК №14), https://adilet.zan.kz/rus/docs/V2600038336 (АРРФР №53). Сопоставление выполнено командой и требует проверки применимости специалистом. Это не юридическое заключение. Кейс_ForteBank.docx.pdf, разделы 6–7. Примерная норма по рабочей станции не доказывает обязанность блокировать экран при каждом кратком уходе.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Свежий базовый прогон дал 33 верных ответа из 40. Профиль с подтверждением дал 34, убрал одну ложную тревогу и сохранил шесть пропусков. Ошибок обработки не было. Это прямой прогон анализатора на тех же предоставленных development-видео. Мы не выдаём его за оценку на новых роликах или новый прогон публичного API на 40 видео.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benchmarks/quality/accuracy-upgrade-baseline-20261018.json; C:/Users/Wezeso/Desktop/Forte/benchmarks/quality/accuracy-upgrade-candidate-comparison-20261018.json. candidate-verified: TP=15, TN=19, FP=0, FN=6, n=40, accuracy=.85, processed=40, failed=0. Baseline: correct=33, FP=1, FN=6. No heldout or cross-validation claim. Precision=15/15, recall=15/21; confidence intervals not 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Точность вердикта и точность времени нужно разделять. На 15 найденных положительных видео медианная ошибка ближайшего события составляет полторы секунды, 11 попаданий укладываются в две секунды. У базового профиля было лучше: одна секунда и 12 попаданий. Улучшение бинарного вердикта не означает улучшение локализации. В разметке нет типов, поэтому точность классификации по типам мы не заявляем.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C:/Users/Wezeso/Desktop/Forte/benchmarks/quality/accuracy-upgrade-candidate-comparison-20261018.json. timecode_scored=15, timecode_err_median=1.5, timecode_within_2s=11. Baseline median=1.0, within2s=12. Time-labeled videos=21; missed videos не включены в эти 15 timing-наблюдений. Ближайшее событие, без сопоставления типов.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Отдельно мы проверили полный публичный API: шесть параллельных загрузок, шесть успешных первых попыток, без повторов и ошибок. Максимум 142,568 секунды, медиана 92,076. Проверка подтвердила схему ответа, JPEG и временную шкалу. Клиент работал на GPU-хосте через публичный HTTPS. Это тёплый тест и не измерение загрузки с ноутбука. Цель 30 секунд пока не достигнута.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C:/Users/Wezeso/Desktop/Forte/benchmarks/quality/final-public-six-load-20261018T005948Z.json. 18.10.2026, attempt 20261018T005948Z. parallel=6, passed=6, failed=0, repeated_attempts=0, timeline_validated_jobs=6. Latency seconds: 105.43637, 142.567703, 55.712498, 34.191399, 78.715998, 119.34662. Input durations: 142.53335673609485, 78.73337572417691, 72.7000612463635, 71.60004662004663, 65.30005112474437, 58.9667043953971. Source preparation 19.261137s excluded. No new accuracy claim. Deadline in case 300s; recorded test deadline240s.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Модель формирует признаки для проверки, а человек может записать отдельное операционное решение. Исходный машинный ответ при этом сохраняется. Техническая ошибка не превращается в вердикт об отсутствии нарушения. Звук и идентификация лиц не используются. Мы не выводим факты о проводках или системной сверке, которые невозможно увидеть на записи.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Кейс_ForteBank.docx.pdf, раздел 7 и FAQ 28–29. docs/submission/pitch.md, README.md. Реализация раздельного machine/human review в web/src и API. Человеческая проверка опциональна для оператора, не обязательна для автоматического API жюри.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 применения в контуре банка нужны независимые новые видео, другие ракурсы и разметка типов событий. Главный риск сегодня — шесть пропусков из 21 положительного ролика. Следующий этап — снизить их число, перепроверить таймкоды и отдельно измерить холодную обработку и загрузку с обычного клиентского компьютера. План ускорения пока не является полученным результатом.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C:/Users/Wezeso/Desktop/Forte/benchmarks/quality/accuracy-upgrade-candidate-comparison-20261018.json; C:/Users/Wezeso/Desktop/Forte/benchmarks/quality/final-public-six-load-20261018T005948Z.json; docs/integration/accuracy-upgrade-implementation-20261018.md. Следующие шаги — предложения команды, без обещанных сроков и ненаблюдавшихся результатов. Public-trained specialists находятся в staged disabled, цель95% не выполнена.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команда WEZESO. Для демонстрации подготовили интерфейс, локальный анализ, API и проверяемые артефакты оценки. Код доступен по ссылке на следующем слайде. Имена и роли не добавлены без подтверждённых данных.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Предоставленные пользователем фотографии, обработанные ранее по его запросу. assets/team/hero-hoodie.png, assets/team/hero-blazer.png. Промпты и происхождение assets/team/SOURCES.md. Это отредактированные студийные cutout-портреты, не свидетельство работы модели.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Откроем разрешённую демонстрацию в продукте. Для жюри используем публичный API и отдельно переданный ключ. Если демонстрационная GPU-среда недоступна, покажем зафиксированные результаты и воспроизводимые инструкции, сохраняя различие между ранее выполненными проверками и новым запуском.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Публичный интерфейс https://hackathon.wezeso.me/. Репозиторий предоставлен пользователем: https://github.com/Wezzeso/forte. Актуальная доступность GPU ограничена арендой, слайд не обещает постоянный uptime. Wordmark: web/public/brand/wezeso-wordmark.png, по прямому требованию пользователя oversized и half-visible. Нижняя часть намеренно скрыта через crop внутри слайда.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Резервный слайд для вопросов о классах. Из 14 категорий каталога шесть отключены. Активные категории перечислены как реализованные кандидаты, а не как проверенные по отдельности классы. Для рабочей станции видимое содержимое экрана — только признак для проверки. Чья это наличность и полномочия присутствующего человека не всегда можно установить визуально.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src/forte/fast/catalog.py и src/forte/fast/policy.py. Открытые источники: https://adilet.zan.kz/rus/docs/V1900019680 (НБРК №231), https://adilet.zan.kz/rus/docs/V2000020075 (НБРК №14), https://adilet.zan.kz/rus/docs/V2600038336 (АРРФР №53). Сопоставление выполнено командой и требует проверки применимости специалистом. Это не юридическое заключение. Disabled: NO_CLIENT_ID, NO_AUTHENTICITY_CHECK, NO_RECOUNT, KEY_LEFT_IN_SAFE, LEFT_DURING_SERVICE, CASH_HANDOVER_IRREGULAR. Active: COLLECTOR_NO_DOCUMENTS, COUNT_WITHOUT_CLIENT, PREVIOUS_CASH_ON_DESK, CASH_LEFT_UNATTENDED, WORKSTATION_UNLOCKED, CASH_ROOM_DOOR_OPEN, UNAUTHORIZED_PERSON, PERSONAL_ITEMS. Labels lack types, event classification accuracy unmeasured.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Резервный слайд для методологии. Dataset: n40, positives21, negatives19. Confusion: TP15, TN19, FP0, FN6. Accuracy34/40=85%, precision15/15=100% на этом наборе, recall15/21=71,4%. Это development, не unseen accuracy. Localization median1.5s на15 detected positive clips. Публичные шесть загрузок проверяют работоспособность и контракт, а не accuracy. Исследовательские RF-DETR и crop-LoRA не активны и не объясняют live-результат.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1. Кейс_ForteBank.docx.pdf</a:t>
            </a:r>
          </a:p>
          <a:p xmlns:a="http://schemas.openxmlformats.org/drawingml/2006/main">
            <a:r>
              <a:t>2. benchmarks/quality/accuracy-upgrade-baseline-20261018.json</a:t>
            </a:r>
          </a:p>
          <a:p xmlns:a="http://schemas.openxmlformats.org/drawingml/2006/main">
            <a:r>
              <a:t>3. benchmarks/quality/accuracy-upgrade-candidate-comparison-20261018.json</a:t>
            </a:r>
          </a:p>
          <a:p xmlns:a="http://schemas.openxmlformats.org/drawingml/2006/main">
            <a:r>
              <a:t>4. benchmarks/quality/final-public-six-load-20261018T005948Z.json</a:t>
            </a:r>
          </a:p>
          <a:p xmlns:a="http://schemas.openxmlformats.org/drawingml/2006/main">
            <a:r>
              <a:t>5. benchmarks/quality/accuracy-upgrade-rollout-20261018.json</a:t>
            </a:r>
          </a:p>
          <a:p xmlns:a="http://schemas.openxmlformats.org/drawingml/2006/main">
            <a:r>
              <a:t>6. docs/integration/accuracy-upgrade-implementation-20261018.md</a:t>
            </a:r>
          </a:p>
          <a:p xmlns:a="http://schemas.openxmlformats.org/drawingml/2006/main">
            <a:r>
              <a:t>7. docs/integration/public-training-results-20261018.md</a:t>
            </a:r>
          </a:p>
          <a:p xmlns:a="http://schemas.openxmlformats.org/drawingml/2006/main">
            <a:r>
              <a:t>8. docs/submission/pitch.md</a:t>
            </a:r>
          </a:p>
          <a:p xmlns:a="http://schemas.openxmlformats.org/drawingml/2006/main">
            <a:r>
              <a:t>9. src/forte/fast/catalog.py</a:t>
            </a:r>
          </a:p>
          <a:p xmlns:a="http://schemas.openxmlformats.org/drawingml/2006/main">
            <a:r>
              <a:t>10. web/public/zimran/SOURCES.md</a:t>
            </a:r>
          </a:p>
          <a:p xmlns:a="http://schemas.openxmlformats.org/drawingml/2006/main">
            <a:r>
              <a:t>11. assets/team/SOURCES.md</a:t>
            </a:r>
          </a:p>
          <a:p xmlns:a="http://schemas.openxmlformats.org/drawingml/2006/main">
            <a:r>
              <a:t>Бенчмарки 18 октября 2026. Частное видео и API-ключи в дек не включены.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db139d87f742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a87e74a0294a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9c4d887d4b46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b7ff5ed96d4a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98ed541fce4cf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a025d9bbb94f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711A85-7602-431E-90A5-36A370F86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60D0665-5547-41E6-9C47-793638879C9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C42015E-A1D2-4371-967D-373B02531B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41E75E-B42A-4AAC-AFC0-D0CB792E9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DD428A6-6F7D-4472-8CC5-0D415BF666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078238-5923-4268-98D1-F7E291E33D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113F93-9F28-4709-85F4-E4034D43AD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4BA0816-E5FE-49E5-ABE8-968F013FB16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34B7C9-E806-428E-AA9A-049FA049BC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B0C550-49AB-4A1C-9902-81C5C278C4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c0819dbd484db1" /><Relationship Type="http://schemas.openxmlformats.org/officeDocument/2006/relationships/slideLayout" Target="/ppt/slideLayouts/slideLayout1.xml" Id="R4c190f18ea234699" /><Relationship Type="http://schemas.openxmlformats.org/officeDocument/2006/relationships/slideLayout" Target="/ppt/slideLayouts/slideLayout2.xml" Id="Rdc9907387ef64556" /><Relationship Type="http://schemas.openxmlformats.org/officeDocument/2006/relationships/slideLayout" Target="/ppt/slideLayouts/slideLayout3.xml" Id="R420e47c1f3d847d8" /><Relationship Type="http://schemas.openxmlformats.org/officeDocument/2006/relationships/slideLayout" Target="/ppt/slideLayouts/slideLayout4.xml" Id="R6ef330c143334efe" /><Relationship Type="http://schemas.openxmlformats.org/officeDocument/2006/relationships/slideLayout" Target="/ppt/slideLayouts/slideLayout5.xml" Id="Rdcba235ae6024d65" /><Relationship Type="http://schemas.openxmlformats.org/officeDocument/2006/relationships/slideLayout" Target="/ppt/slideLayouts/slideLayout6.xml" Id="R95610e33e8b64e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190f18ea234699"/>
    <p:sldLayoutId xmlns:r="http://schemas.openxmlformats.org/officeDocument/2006/relationships" id="2147483650" r:id="Rdc9907387ef64556"/>
    <p:sldLayoutId xmlns:r="http://schemas.openxmlformats.org/officeDocument/2006/relationships" id="2147483651" r:id="R420e47c1f3d847d8"/>
    <p:sldLayoutId xmlns:r="http://schemas.openxmlformats.org/officeDocument/2006/relationships" id="2147483652" r:id="R6ef330c143334efe"/>
    <p:sldLayoutId xmlns:r="http://schemas.openxmlformats.org/officeDocument/2006/relationships" id="2147483653" r:id="Rdcba235ae6024d65"/>
    <p:sldLayoutId xmlns:r="http://schemas.openxmlformats.org/officeDocument/2006/relationships" id="2147483654" r:id="R95610e33e8b64e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FORTE">
      <a:dk1>
        <a:srgbClr val="191919"/>
      </a:dk1>
      <a:lt1>
        <a:srgbClr val="FFFFFF"/>
      </a:lt1>
      <a:dk2>
        <a:srgbClr val="861044"/>
      </a:dk2>
      <a:lt2>
        <a:srgbClr val="F2F2F2"/>
      </a:lt2>
      <a:accent1>
        <a:srgbClr val="A31551"/>
      </a:accent1>
      <a:accent2>
        <a:srgbClr val="861044"/>
      </a:accent2>
      <a:accent3>
        <a:srgbClr val="191919"/>
      </a:accent3>
      <a:accent4>
        <a:srgbClr val="C8C8C8"/>
      </a:accent4>
      <a:accent5>
        <a:srgbClr val="E8D1DB"/>
      </a:accent5>
      <a:accent6>
        <a:srgbClr val="6F6F6F"/>
      </a:accent6>
      <a:hlink>
        <a:srgbClr val="A31551"/>
      </a:hlink>
      <a:folHlink>
        <a:srgbClr val="861044"/>
      </a:folHlink>
    </a:clrScheme>
    <a:fontScheme name="">
      <a:majorFont>
        <a:latin typeface="UpMax"/>
        <a:ea typeface=""/>
        <a:cs typeface=""/>
      </a:majorFont>
      <a:minorFont>
        <a:latin typeface="UpMax"/>
        <a:ea typeface=""/>
        <a:cs typeface=""/>
      </a:minorFont>
    </a:fontScheme>
    <a:fmtScheme name="FOR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eed799fee64b56" /><Relationship Type="http://schemas.openxmlformats.org/officeDocument/2006/relationships/image" Target="/ppt/media/image.png" Id="Ra298144091124d6b" /><Relationship Type="http://schemas.openxmlformats.org/officeDocument/2006/relationships/image" Target="/ppt/media/image.svg" Id="Rff4d85f3cf9a4f98" /><Relationship Type="http://schemas.openxmlformats.org/officeDocument/2006/relationships/image" Target="/ppt/media/image2.png" Id="Rca4680f28ce44eb1" /><Relationship Type="http://schemas.openxmlformats.org/officeDocument/2006/relationships/image" Target="/ppt/media/image2.svg" Id="Re645809154694e51" /><Relationship Type="http://schemas.openxmlformats.org/officeDocument/2006/relationships/notesSlide" Target="/ppt/notesSlides/notesSlide1.xml" Id="R80768217437a40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fb9f4c01b64639" /><Relationship Type="http://schemas.openxmlformats.org/officeDocument/2006/relationships/image" Target="/ppt/media/image3.png" Id="R26b683147f9c43ac" /><Relationship Type="http://schemas.openxmlformats.org/officeDocument/2006/relationships/notesSlide" Target="/ppt/notesSlides/notesSlide2.xml" Id="R33561c63dbc642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eef756181a4e43" /><Relationship Type="http://schemas.openxmlformats.org/officeDocument/2006/relationships/image" Target="/ppt/media/image.jpeg" Id="R9e2f2e2846404faf" /><Relationship Type="http://schemas.openxmlformats.org/officeDocument/2006/relationships/notesSlide" Target="/ppt/notesSlides/notesSlide3.xml" Id="R9f7f3a268aff42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8e583343544dc5" /><Relationship Type="http://schemas.openxmlformats.org/officeDocument/2006/relationships/image" Target="/ppt/media/image4.png" Id="R569c22a9756048eb" /><Relationship Type="http://schemas.openxmlformats.org/officeDocument/2006/relationships/notesSlide" Target="/ppt/notesSlides/notesSlide4.xml" Id="Rc3fc34a79d3f40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91763f88f74085" /><Relationship Type="http://schemas.openxmlformats.org/officeDocument/2006/relationships/image" Target="/ppt/media/image5.png" Id="Rca85449d54e04e95" /><Relationship Type="http://schemas.openxmlformats.org/officeDocument/2006/relationships/image" Target="/ppt/media/image3.svg" Id="R765174b4562d4f44" /><Relationship Type="http://schemas.openxmlformats.org/officeDocument/2006/relationships/notesSlide" Target="/ppt/notesSlides/notesSlide5.xml" Id="R4bbbe810a7d843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16a1f6c8344806" /><Relationship Type="http://schemas.openxmlformats.org/officeDocument/2006/relationships/image" Target="/ppt/media/image6.png" Id="R9c43e1b204d243ab" /><Relationship Type="http://schemas.openxmlformats.org/officeDocument/2006/relationships/image" Target="/ppt/media/image4.svg" Id="Rad0135cd90214743" /><Relationship Type="http://schemas.openxmlformats.org/officeDocument/2006/relationships/notesSlide" Target="/ppt/notesSlides/notesSlide6.xml" Id="Rb72d9c22b5514a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3b018f5f3d42d9" /><Relationship Type="http://schemas.openxmlformats.org/officeDocument/2006/relationships/chart" Target="/ppt/slides/charts/chart1.xml" Id="Re9013907bc4d4b3b" /><Relationship Type="http://schemas.openxmlformats.org/officeDocument/2006/relationships/notesSlide" Target="/ppt/notesSlides/notesSlide7.xml" Id="R8114bfe4109b40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8cf1e061394485" /><Relationship Type="http://schemas.openxmlformats.org/officeDocument/2006/relationships/image" Target="/ppt/media/image7.png" Id="R73480ee679ed4157" /><Relationship Type="http://schemas.openxmlformats.org/officeDocument/2006/relationships/image" Target="/ppt/media/image5.svg" Id="Ra5ed64e44c8a4b6e" /><Relationship Type="http://schemas.openxmlformats.org/officeDocument/2006/relationships/notesSlide" Target="/ppt/notesSlides/notesSlide8.xml" Id="Rb4630e0073eb46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38025f3fbe4371" /><Relationship Type="http://schemas.openxmlformats.org/officeDocument/2006/relationships/chart" Target="/ppt/slides/charts/chart2.xml" Id="R58ad8bf282a44d0d" /><Relationship Type="http://schemas.openxmlformats.org/officeDocument/2006/relationships/notesSlide" Target="/ppt/notesSlides/notesSlide9.xml" Id="Rf8d50512c8ce46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3758a0c5724d10" /><Relationship Type="http://schemas.openxmlformats.org/officeDocument/2006/relationships/notesSlide" Target="/ppt/notesSlides/notesSlide10.xml" Id="Ra385489184ad48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8c1c575c014c6e" /><Relationship Type="http://schemas.openxmlformats.org/officeDocument/2006/relationships/notesSlide" Target="/ppt/notesSlides/notesSlide11.xml" Id="Rd6323b5e82754a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96d584335c4f6c" /><Relationship Type="http://schemas.openxmlformats.org/officeDocument/2006/relationships/image" Target="/ppt/media/image8.png" Id="Rd0f09735bfc24c35" /><Relationship Type="http://schemas.openxmlformats.org/officeDocument/2006/relationships/image" Target="/ppt/media/image6.svg" Id="R915dbf0469e44451" /><Relationship Type="http://schemas.openxmlformats.org/officeDocument/2006/relationships/image" Target="/ppt/media/image9.png" Id="R54dcbceeae2742b4" /><Relationship Type="http://schemas.openxmlformats.org/officeDocument/2006/relationships/image" Target="/ppt/media/image10.png" Id="R53a4d7467f7e4e9e" /><Relationship Type="http://schemas.openxmlformats.org/officeDocument/2006/relationships/notesSlide" Target="/ppt/notesSlides/notesSlide12.xml" Id="Rb30e3a0c4a834c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1ee06414684067" /><Relationship Type="http://schemas.openxmlformats.org/officeDocument/2006/relationships/image" Target="/ppt/media/image11.png" Id="Rafcb9e7411344c34" /><Relationship Type="http://schemas.openxmlformats.org/officeDocument/2006/relationships/image" Target="/ppt/media/image7.svg" Id="R23ce6a6ae8a44e6d" /><Relationship Type="http://schemas.openxmlformats.org/officeDocument/2006/relationships/hyperlink" Target="https://hackathon.wezeso.me/" TargetMode="External" Id="Rc33dcfe9e4984adb" /><Relationship Type="http://schemas.openxmlformats.org/officeDocument/2006/relationships/hyperlink" Target="https://github.com/Wezzeso/forte" TargetMode="External" Id="R94269570287e4217" /><Relationship Type="http://schemas.openxmlformats.org/officeDocument/2006/relationships/image" Target="/ppt/media/image12.png" Id="Ra030353f70f548ea" /><Relationship Type="http://schemas.openxmlformats.org/officeDocument/2006/relationships/notesSlide" Target="/ppt/notesSlides/notesSlide13.xml" Id="R36f9329733074d9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5341bf2ec54321" /><Relationship Type="http://schemas.openxmlformats.org/officeDocument/2006/relationships/notesSlide" Target="/ppt/notesSlides/notesSlide14.xml" Id="R8dec26164ea44a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a56e9f55384de7" /><Relationship Type="http://schemas.openxmlformats.org/officeDocument/2006/relationships/notesSlide" Target="/ppt/notesSlides/notesSlide15.xml" Id="R317a114eb9a64cf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Верных вердиктов</c:v>
          </c:tx>
          <c:spPr>
            <a:solidFill xmlns:a="http://schemas.openxmlformats.org/drawingml/2006/main">
              <a:srgbClr val="A31551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Базовый профиль</c:v>
                </c:pt>
                <c:pt idx="1">
                  <c:v>С подтверждением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33</c:v>
                </c:pt>
                <c:pt idx="1">
                  <c:v>34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550" b="1">
                  <a:solidFill>
                    <a:srgbClr val="A31551"/>
                  </a:solidFill>
                  <a:latin typeface="UpMax"/>
                  <a:ea typeface="UpMax"/>
                  <a:cs typeface="UpMax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2D2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Секунды</c:v>
          </c:tx>
          <c:spPr>
            <a:solidFill xmlns:a="http://schemas.openxmlformats.org/drawingml/2006/main">
              <a:srgbClr val="A31551"/>
            </a:solidFill>
          </c:spPr>
          <c:invertIfNegative val="0"/>
          <c:cat>
            <c:numRef>
              <c:f>'Chart Data'!$A$2:$A$7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105.4</c:v>
                </c:pt>
                <c:pt idx="1">
                  <c:v>142.6</c:v>
                </c:pt>
                <c:pt idx="2">
                  <c:v>55.7</c:v>
                </c:pt>
                <c:pt idx="3">
                  <c:v>34.2</c:v>
                </c:pt>
                <c:pt idx="4">
                  <c:v>78.7</c:v>
                </c:pt>
                <c:pt idx="5">
                  <c:v>119.3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solidFill>
                    <a:srgbClr val="191919"/>
                  </a:solidFill>
                  <a:latin typeface="UpMax"/>
                  <a:ea typeface="UpMax"/>
                  <a:cs typeface="UpMax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</a:p>
        </c:txPr>
        <c:crossAx val="48672768"/>
      </c:catAx>
      <c:valAx>
        <c:axId val="48672768"/>
        <c:scaling>
          <c:orientation val="minMax"/>
          <c:max val="1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2D2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</a:p>
        </c:txPr>
        <c:crossAx val="48650112"/>
        <c:crossBetween val="between"/>
        <c:majorUnit val="6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A3155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A7627-D3C2-43DD-9B7A-8D0DB1EFEB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8144091124d6b">
            <a:extLst>
              <a:ext uri="{96DAC541-7B7A-43D3-8B79-37D633B846F1}">
                <asvg:svgBlip xmlns:asvg="http://schemas.microsoft.com/office/drawing/2016/SVG/main" r:embed="Rff4d85f3cf9a4f9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2047875"/>
            <a:ext cx="12192000" cy="3429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D4F7D-87B0-44C7-A4E3-48503CF17C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680f28ce44eb1">
            <a:extLst>
              <a:ext uri="{96DAC541-7B7A-43D3-8B79-37D633B846F1}">
                <asvg:svgBlip xmlns:asvg="http://schemas.microsoft.com/office/drawing/2016/SVG/main" r:embed="Re645809154694e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00050"/>
            <a:ext cx="2143125" cy="920576"/>
          </a:xfrm>
          <a:prstGeom xmlns:a="http://schemas.openxmlformats.org/drawingml/2006/main" prst="rect">
            <a:avLst/>
          </a:prstGeom>
        </p:spPr>
      </p:pic>
      <p:sp>
        <p:nvSpPr>
          <p:cNvPr id="3" name="Panopticon">
            <a:extLst xmlns:a="http://schemas.openxmlformats.org/drawingml/2006/main">
              <a:ext uri="{FF2B5EF4-FFF2-40B4-BE49-F238E27FC236}">
                <a16:creationId xmlns:a16="http://schemas.microsoft.com/office/drawing/2014/main" id="{E4FCFAC0-AA0C-4098-A781-8A7A06C8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1104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14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114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114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114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114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114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114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114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114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114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4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11400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Panopticon</a:t>
            </a:r>
          </a:p>
        </p:txBody>
      </p:sp>
      <p:sp>
        <p:nvSpPr>
          <p:cNvPr id="4" name="Видеоаналитика кассовых операций">
            <a:extLst xmlns:a="http://schemas.openxmlformats.org/drawingml/2006/main">
              <a:ext uri="{FF2B5EF4-FFF2-40B4-BE49-F238E27FC236}">
                <a16:creationId xmlns:a16="http://schemas.microsoft.com/office/drawing/2014/main" id="{4C82BC43-B4EF-4B9A-8484-E25C8FD4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3225" b="0">
                <a:solidFill>
                  <a:srgbClr val="F2F2F2"/>
                </a:solidFill>
                <a:latin typeface="UpMax"/>
                <a:ea typeface="UpMax"/>
                <a:cs typeface="UpMax"/>
              </a:rPr>
              <a:t>Видеоаналитика кассовых операций</a:t>
            </a:r>
          </a:p>
        </p:txBody>
      </p:sp>
      <p:sp>
        <p:nvSpPr>
          <p:cNvPr id="5" name="Datathon 2026">
            <a:extLst xmlns:a="http://schemas.openxmlformats.org/drawingml/2006/main">
              <a:ext uri="{FF2B5EF4-FFF2-40B4-BE49-F238E27FC236}">
                <a16:creationId xmlns:a16="http://schemas.microsoft.com/office/drawing/2014/main" id="{57E15D1C-5B40-4188-8B21-C32EAAFC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21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21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21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21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21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21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21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21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21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1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2175" b="0">
                <a:solidFill>
                  <a:srgbClr val="F2F2F2"/>
                </a:solidFill>
                <a:latin typeface="UpMax"/>
                <a:ea typeface="UpMax"/>
                <a:cs typeface="UpMax"/>
              </a:rPr>
              <a:t>Datathon 2026</a:t>
            </a:r>
          </a:p>
        </p:txBody>
      </p:sp>
      <p:sp>
        <p:nvSpPr>
          <p:cNvPr id="6" name="WEZESO">
            <a:extLst xmlns:a="http://schemas.openxmlformats.org/drawingml/2006/main">
              <a:ext uri="{FF2B5EF4-FFF2-40B4-BE49-F238E27FC236}">
                <a16:creationId xmlns:a16="http://schemas.microsoft.com/office/drawing/2014/main" id="{91080708-441E-4DD6-8ED1-A0C5F1DE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626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2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2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2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2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2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2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2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2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2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217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WEZESO</a:t>
            </a:r>
          </a:p>
        </p:txBody>
      </p:sp>
    </p:spTree>
    <p:extLst>
      <p:ext uri="{BB962C8B-B14F-4D97-AF65-F5344CB8AC3E}">
        <p14:creationId xmlns:p14="http://schemas.microsoft.com/office/powerpoint/2010/main" val="12222532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49547-5B85-4B00-90F3-B955283EDA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683147f9c43ac"/>
          <a:srcRect xmlns:a="http://schemas.openxmlformats.org/drawingml/2006/main" l="0" t="240" r="0" b="2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86000" y="285750"/>
            <a:ext cx="9906000" cy="6572250"/>
          </a:xfrm>
          <a:prstGeom xmlns:a="http://schemas.openxmlformats.org/drawingml/2006/main" prst="rect">
            <a:avLst/>
          </a:prstGeom>
        </p:spPr>
      </p:pic>
      <p:sp>
        <p:nvSpPr>
          <p:cNvPr id="2" name="Касса под контролем">
            <a:extLst xmlns:a="http://schemas.openxmlformats.org/drawingml/2006/main">
              <a:ext uri="{FF2B5EF4-FFF2-40B4-BE49-F238E27FC236}">
                <a16:creationId xmlns:a16="http://schemas.microsoft.com/office/drawing/2014/main" id="{CBE144CD-6E4C-4CE4-B8C3-24BD637D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7620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67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defRPr sz="67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defRPr sz="67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defRPr sz="67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defRPr sz="67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defRPr sz="67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defRPr sz="67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defRPr sz="67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defRPr sz="67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defRPr sz="67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67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6750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Касса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67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6750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под контролем</a:t>
            </a:r>
          </a:p>
        </p:txBody>
      </p:sp>
      <p:sp>
        <p:nvSpPr>
          <p:cNvPr id="3" name="Ручной просмотр каждого видео">
            <a:extLst xmlns:a="http://schemas.openxmlformats.org/drawingml/2006/main">
              <a:ext uri="{FF2B5EF4-FFF2-40B4-BE49-F238E27FC236}">
                <a16:creationId xmlns:a16="http://schemas.microsoft.com/office/drawing/2014/main" id="{3A87354F-8832-4522-ADC0-9EE1AD6B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3000" b="0">
                <a:solidFill>
                  <a:srgbClr val="191919"/>
                </a:solidFill>
                <a:latin typeface="UpMax"/>
                <a:ea typeface="UpMax"/>
                <a:cs typeface="UpMax"/>
              </a:rPr>
              <a:t>Ручной просмотр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3000" b="0">
                <a:solidFill>
                  <a:srgbClr val="191919"/>
                </a:solidFill>
                <a:latin typeface="UpMax"/>
                <a:ea typeface="UpMax"/>
                <a:cs typeface="UpMax"/>
              </a:rPr>
              <a:t>каждого видео</a:t>
            </a:r>
          </a:p>
        </p:txBody>
      </p:sp>
      <p:sp>
        <p:nvSpPr>
          <p:cNvPr id="4" name="Поиск конкретного момента">
            <a:extLst xmlns:a="http://schemas.openxmlformats.org/drawingml/2006/main">
              <a:ext uri="{FF2B5EF4-FFF2-40B4-BE49-F238E27FC236}">
                <a16:creationId xmlns:a16="http://schemas.microsoft.com/office/drawing/2014/main" id="{B5FF7231-150D-4F1D-8A69-5274C44F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3000" b="0">
                <a:solidFill>
                  <a:srgbClr val="191919"/>
                </a:solidFill>
                <a:latin typeface="UpMax"/>
                <a:ea typeface="UpMax"/>
                <a:cs typeface="UpMax"/>
              </a:rPr>
              <a:t>Поиск конкретного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3000" b="0">
                <a:solidFill>
                  <a:srgbClr val="191919"/>
                </a:solidFill>
                <a:latin typeface="UpMax"/>
                <a:ea typeface="UpMax"/>
                <a:cs typeface="UpMax"/>
              </a:rPr>
              <a:t>момента</a:t>
            </a:r>
          </a:p>
        </p:txBody>
      </p:sp>
    </p:spTree>
    <p:extLst>
      <p:ext uri="{BB962C8B-B14F-4D97-AF65-F5344CB8AC3E}">
        <p14:creationId xmlns:p14="http://schemas.microsoft.com/office/powerpoint/2010/main" val="3119815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919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Один файл. Одна проверка">
            <a:extLst xmlns:a="http://schemas.openxmlformats.org/drawingml/2006/main">
              <a:ext uri="{FF2B5EF4-FFF2-40B4-BE49-F238E27FC236}">
                <a16:creationId xmlns:a16="http://schemas.microsoft.com/office/drawing/2014/main" id="{6C8242A4-5000-4620-A98C-73708C38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51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51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51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51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51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51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51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51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51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51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51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5100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Один файл. Одна проверка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16466-1C92-4912-ADF1-87212CCE1B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f2e2846404faf"/>
          <a:stretch xmlns:a="http://schemas.openxmlformats.org/drawingml/2006/main"/>
        </p:blipFill>
        <p:spPr>
          <a:xfrm xmlns:a="http://schemas.openxmlformats.org/drawingml/2006/main">
            <a:off x="617493" y="18097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Видео">
            <a:extLst xmlns:a="http://schemas.openxmlformats.org/drawingml/2006/main">
              <a:ext uri="{FF2B5EF4-FFF2-40B4-BE49-F238E27FC236}">
                <a16:creationId xmlns:a16="http://schemas.microsoft.com/office/drawing/2014/main" id="{ABF0A19C-C63A-4290-B84F-94D29C87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322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Видео</a:t>
            </a:r>
          </a:p>
        </p:txBody>
      </p:sp>
      <p:sp>
        <p:nvSpPr>
          <p:cNvPr id="4" name="Анализ">
            <a:extLst xmlns:a="http://schemas.openxmlformats.org/drawingml/2006/main">
              <a:ext uri="{FF2B5EF4-FFF2-40B4-BE49-F238E27FC236}">
                <a16:creationId xmlns:a16="http://schemas.microsoft.com/office/drawing/2014/main" id="{E553B6B6-3B78-448F-BEFE-7E16D1A7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9092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322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Анализ</a:t>
            </a:r>
          </a:p>
        </p:txBody>
      </p:sp>
      <p:sp>
        <p:nvSpPr>
          <p:cNvPr id="5" name="События">
            <a:extLst xmlns:a="http://schemas.openxmlformats.org/drawingml/2006/main">
              <a:ext uri="{FF2B5EF4-FFF2-40B4-BE49-F238E27FC236}">
                <a16:creationId xmlns:a16="http://schemas.microsoft.com/office/drawing/2014/main" id="{D2436EA6-27F6-44CF-A31F-0DD0389B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006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322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События</a:t>
            </a:r>
          </a:p>
        </p:txBody>
      </p:sp>
    </p:spTree>
    <p:extLst>
      <p:ext uri="{BB962C8B-B14F-4D97-AF65-F5344CB8AC3E}">
        <p14:creationId xmlns:p14="http://schemas.microsoft.com/office/powerpoint/2010/main" val="9069385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Результат можно проверить">
            <a:extLst xmlns:a="http://schemas.openxmlformats.org/drawingml/2006/main">
              <a:ext uri="{FF2B5EF4-FFF2-40B4-BE49-F238E27FC236}">
                <a16:creationId xmlns:a16="http://schemas.microsoft.com/office/drawing/2014/main" id="{63E4A6BD-3407-41EA-8323-D75F833A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5250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Результат можно проверить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0E1CA-1DA5-47A2-A121-8017D04B91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c22a9756048eb"/>
          <a:srcRect xmlns:a="http://schemas.openxmlformats.org/drawingml/2006/main" l="2500" t="7500" r="2500" b="64000"/>
          <a:stretch xmlns:a="http://schemas.openxmlformats.org/drawingml/2006/main"/>
        </p:blipFill>
        <p:spPr>
          <a:xfrm xmlns:a="http://schemas.openxmlformats.org/drawingml/2006/main">
            <a:off x="609600" y="2000250"/>
            <a:ext cx="7620000" cy="3905250"/>
          </a:xfrm>
          <a:prstGeom xmlns:a="http://schemas.openxmlformats.org/drawingml/2006/main" prst="rect">
            <a:avLst/>
          </a:prstGeom>
        </p:spPr>
      </p:pic>
      <p:sp>
        <p:nvSpPr>
          <p:cNvPr id="3" name="Кадр">
            <a:extLst xmlns:a="http://schemas.openxmlformats.org/drawingml/2006/main">
              <a:ext uri="{FF2B5EF4-FFF2-40B4-BE49-F238E27FC236}">
                <a16:creationId xmlns:a16="http://schemas.microsoft.com/office/drawing/2014/main" id="{9CF5C869-71FB-4973-8D22-1305AE17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241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3375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Кадр</a:t>
            </a:r>
          </a:p>
        </p:txBody>
      </p:sp>
      <p:sp>
        <p:nvSpPr>
          <p:cNvPr id="4" name="Таймкод">
            <a:extLst xmlns:a="http://schemas.openxmlformats.org/drawingml/2006/main">
              <a:ext uri="{FF2B5EF4-FFF2-40B4-BE49-F238E27FC236}">
                <a16:creationId xmlns:a16="http://schemas.microsoft.com/office/drawing/2014/main" id="{D2B013CE-A4C3-47F0-A901-10185F41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432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3375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Таймкод</a:t>
            </a:r>
          </a:p>
        </p:txBody>
      </p:sp>
      <p:sp>
        <p:nvSpPr>
          <p:cNvPr id="5" name="Правило">
            <a:extLst xmlns:a="http://schemas.openxmlformats.org/drawingml/2006/main">
              <a:ext uri="{FF2B5EF4-FFF2-40B4-BE49-F238E27FC236}">
                <a16:creationId xmlns:a16="http://schemas.microsoft.com/office/drawing/2014/main" id="{6F80B204-B5EF-42C5-846D-026E8800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624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3375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Правило</a:t>
            </a:r>
          </a:p>
        </p:txBody>
      </p:sp>
      <p:sp>
        <p:nvSpPr>
          <p:cNvPr id="6" name="Интерфейс: синтетический пример">
            <a:extLst xmlns:a="http://schemas.openxmlformats.org/drawingml/2006/main">
              <a:ext uri="{FF2B5EF4-FFF2-40B4-BE49-F238E27FC236}">
                <a16:creationId xmlns:a16="http://schemas.microsoft.com/office/drawing/2014/main" id="{FB21CD92-8CFC-41D8-8E7D-9E8C8ED0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defPPr>
            <a:lvl1pPr>
              <a:defRPr sz="187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1pPr>
            <a:lvl2pPr>
              <a:defRPr sz="187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2pPr>
            <a:lvl3pPr>
              <a:defRPr sz="187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3pPr>
            <a:lvl4pPr>
              <a:defRPr sz="187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4pPr>
            <a:lvl5pPr>
              <a:defRPr sz="187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5pPr>
            <a:lvl6pPr>
              <a:defRPr sz="187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6pPr>
            <a:lvl7pPr>
              <a:defRPr sz="187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7pPr>
            <a:lvl8pPr>
              <a:defRPr sz="187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8pPr>
            <a:lvl9pPr>
              <a:defRPr sz="187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87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  <a:r>
              <a:rPr sz="1875" b="0">
                <a:solidFill>
                  <a:srgbClr val="606060"/>
                </a:solidFill>
                <a:latin typeface="UpMax"/>
                <a:ea typeface="UpMax"/>
                <a:cs typeface="UpMax"/>
              </a:rPr>
              <a:t>Интерфейс: синтетический пример</a:t>
            </a:r>
          </a:p>
        </p:txBody>
      </p:sp>
    </p:spTree>
    <p:extLst>
      <p:ext uri="{BB962C8B-B14F-4D97-AF65-F5344CB8AC3E}">
        <p14:creationId xmlns:p14="http://schemas.microsoft.com/office/powerpoint/2010/main" val="1637470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A3155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4ECDF-9D46-478A-8BDF-DAF9915112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5449d54e04e95">
            <a:extLst>
              <a:ext uri="{96DAC541-7B7A-43D3-8B79-37D633B846F1}">
                <asvg:svgBlip xmlns:asvg="http://schemas.microsoft.com/office/drawing/2016/SVG/main" r:embed="R765174b4562d4f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1809750"/>
            <a:ext cx="12192000" cy="4572000"/>
          </a:xfrm>
          <a:prstGeom xmlns:a="http://schemas.openxmlformats.org/drawingml/2006/main" prst="rect">
            <a:avLst/>
          </a:prstGeom>
        </p:spPr>
      </p:pic>
      <p:sp>
        <p:nvSpPr>
          <p:cNvPr id="2" name="Локальный анализ">
            <a:extLst xmlns:a="http://schemas.openxmlformats.org/drawingml/2006/main">
              <a:ext uri="{FF2B5EF4-FFF2-40B4-BE49-F238E27FC236}">
                <a16:creationId xmlns:a16="http://schemas.microsoft.com/office/drawing/2014/main" id="{20BDA4C9-5BB3-4D9E-999A-326D72B9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6600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Локальный анализ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33242201-8498-424D-A582-69B21E64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95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472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01</a:t>
            </a:r>
          </a:p>
        </p:txBody>
      </p:sp>
      <p:sp>
        <p:nvSpPr>
          <p:cNvPr id="4" name="Кадры и сцена">
            <a:extLst xmlns:a="http://schemas.openxmlformats.org/drawingml/2006/main">
              <a:ext uri="{FF2B5EF4-FFF2-40B4-BE49-F238E27FC236}">
                <a16:creationId xmlns:a16="http://schemas.microsoft.com/office/drawing/2014/main" id="{86FE8A2C-8204-466A-B1B2-B9D5D72D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19325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352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Кадры и сцена</a:t>
            </a:r>
          </a:p>
        </p:txBody>
      </p:sp>
      <p:sp>
        <p:nvSpPr>
          <p:cNvPr id="5" name="Исходное время записи">
            <a:extLst xmlns:a="http://schemas.openxmlformats.org/drawingml/2006/main">
              <a:ext uri="{FF2B5EF4-FFF2-40B4-BE49-F238E27FC236}">
                <a16:creationId xmlns:a16="http://schemas.microsoft.com/office/drawing/2014/main" id="{E5E65E3C-51BB-4890-AD79-04FDE809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4315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2025" b="0">
                <a:solidFill>
                  <a:srgbClr val="F2F2F2"/>
                </a:solidFill>
                <a:latin typeface="UpMax"/>
                <a:ea typeface="UpMax"/>
                <a:cs typeface="UpMax"/>
              </a:rPr>
              <a:t>Исходное время записи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A528F2C9-46F0-4FA3-A288-16AA3355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95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472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02</a:t>
            </a:r>
          </a:p>
        </p:txBody>
      </p:sp>
      <p:sp>
        <p:nvSpPr>
          <p:cNvPr id="7" name="Qwen3-VL">
            <a:extLst xmlns:a="http://schemas.openxmlformats.org/drawingml/2006/main">
              <a:ext uri="{FF2B5EF4-FFF2-40B4-BE49-F238E27FC236}">
                <a16:creationId xmlns:a16="http://schemas.microsoft.com/office/drawing/2014/main" id="{D7A8E9D5-6752-45F5-A76E-36A67C3A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1945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352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Qwen3-VL</a:t>
            </a:r>
          </a:p>
        </p:txBody>
      </p:sp>
      <p:sp>
        <p:nvSpPr>
          <p:cNvPr id="8" name="30B-A3B, vLLM, A100">
            <a:extLst xmlns:a="http://schemas.openxmlformats.org/drawingml/2006/main">
              <a:ext uri="{FF2B5EF4-FFF2-40B4-BE49-F238E27FC236}">
                <a16:creationId xmlns:a16="http://schemas.microsoft.com/office/drawing/2014/main" id="{3953EF42-9A99-4557-87B8-19EFF266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4327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2025" b="0">
                <a:solidFill>
                  <a:srgbClr val="F2F2F2"/>
                </a:solidFill>
                <a:latin typeface="UpMax"/>
                <a:ea typeface="UpMax"/>
                <a:cs typeface="UpMax"/>
              </a:rPr>
              <a:t>30B-A3B, vLLM, A100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4292F36D-9488-4C0E-A411-D7F38331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95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472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03</a:t>
            </a:r>
          </a:p>
        </p:txBody>
      </p:sp>
      <p:sp>
        <p:nvSpPr>
          <p:cNvPr id="10" name="Временные правила">
            <a:extLst xmlns:a="http://schemas.openxmlformats.org/drawingml/2006/main">
              <a:ext uri="{FF2B5EF4-FFF2-40B4-BE49-F238E27FC236}">
                <a16:creationId xmlns:a16="http://schemas.microsoft.com/office/drawing/2014/main" id="{5A3C0F7D-FA71-400C-814B-EEA98C94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19575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352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Временные правила</a:t>
            </a:r>
          </a:p>
        </p:txBody>
      </p:sp>
      <p:sp>
        <p:nvSpPr>
          <p:cNvPr id="11" name="Порядок действий">
            <a:extLst xmlns:a="http://schemas.openxmlformats.org/drawingml/2006/main">
              <a:ext uri="{FF2B5EF4-FFF2-40B4-BE49-F238E27FC236}">
                <a16:creationId xmlns:a16="http://schemas.microsoft.com/office/drawing/2014/main" id="{322C8D8D-83AA-47B2-BF39-9E06B55A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434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2025" b="0">
                <a:solidFill>
                  <a:srgbClr val="F2F2F2"/>
                </a:solidFill>
                <a:latin typeface="UpMax"/>
                <a:ea typeface="UpMax"/>
                <a:cs typeface="UpMax"/>
              </a:rPr>
              <a:t>Порядок действий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BDA98BC7-EF27-43DF-AF50-F65C7226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95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472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04</a:t>
            </a:r>
          </a:p>
        </p:txBody>
      </p:sp>
      <p:sp>
        <p:nvSpPr>
          <p:cNvPr id="13" name="VLM-подтверждение">
            <a:extLst xmlns:a="http://schemas.openxmlformats.org/drawingml/2006/main">
              <a:ext uri="{FF2B5EF4-FFF2-40B4-BE49-F238E27FC236}">
                <a16:creationId xmlns:a16="http://schemas.microsoft.com/office/drawing/2014/main" id="{3FE5C737-6295-4B75-967D-3A501EFA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970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352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VLM-подтверждение</a:t>
            </a:r>
          </a:p>
        </p:txBody>
      </p:sp>
      <p:sp>
        <p:nvSpPr>
          <p:cNvPr id="14" name="Исходный JPEG и результат">
            <a:extLst xmlns:a="http://schemas.openxmlformats.org/drawingml/2006/main">
              <a:ext uri="{FF2B5EF4-FFF2-40B4-BE49-F238E27FC236}">
                <a16:creationId xmlns:a16="http://schemas.microsoft.com/office/drawing/2014/main" id="{163D3F25-07E9-4737-8E55-A94A10FA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34352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2025" b="0">
                <a:solidFill>
                  <a:srgbClr val="F2F2F2"/>
                </a:solidFill>
                <a:latin typeface="UpMax"/>
                <a:ea typeface="UpMax"/>
                <a:cs typeface="UpMax"/>
              </a:rPr>
              <a:t>Исходный JPEG и 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1995480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Наблюдение + источник">
            <a:extLst xmlns:a="http://schemas.openxmlformats.org/drawingml/2006/main">
              <a:ext uri="{FF2B5EF4-FFF2-40B4-BE49-F238E27FC236}">
                <a16:creationId xmlns:a16="http://schemas.microsoft.com/office/drawing/2014/main" id="{507CD3EF-5757-4BCA-92C8-6C97E3F2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61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defRPr sz="61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defRPr sz="61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defRPr sz="61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defRPr sz="61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defRPr sz="61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defRPr sz="61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defRPr sz="61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defRPr sz="61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defRPr sz="61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61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6150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Наблюдение + источник</a:t>
            </a:r>
          </a:p>
        </p:txBody>
      </p:sp>
      <p:sp>
        <p:nvSpPr>
          <p:cNvPr id="2" name="Кассовые операции">
            <a:extLst xmlns:a="http://schemas.openxmlformats.org/drawingml/2006/main">
              <a:ext uri="{FF2B5EF4-FFF2-40B4-BE49-F238E27FC236}">
                <a16:creationId xmlns:a16="http://schemas.microsoft.com/office/drawing/2014/main" id="{26322FCC-AA36-44DB-982A-68F70A54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3975" b="1">
                <a:solidFill>
                  <a:srgbClr val="191919"/>
                </a:solidFill>
                <a:latin typeface="UpMax"/>
                <a:ea typeface="UpMax"/>
                <a:cs typeface="UpMax"/>
              </a:rPr>
              <a:t>Кассовые операции</a:t>
            </a:r>
          </a:p>
        </p:txBody>
      </p:sp>
      <p:sp>
        <p:nvSpPr>
          <p:cNvPr id="3" name="НБРК №231">
            <a:extLst xmlns:a="http://schemas.openxmlformats.org/drawingml/2006/main">
              <a:ext uri="{FF2B5EF4-FFF2-40B4-BE49-F238E27FC236}">
                <a16:creationId xmlns:a16="http://schemas.microsoft.com/office/drawing/2014/main" id="{15D9B3F5-2530-44AA-93FE-6E27A8A5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defPPr>
            <a:lvl1pPr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1pPr>
            <a:lvl2pPr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2pPr>
            <a:lvl3pPr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3pPr>
            <a:lvl4pPr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4pPr>
            <a:lvl5pPr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5pPr>
            <a:lvl6pPr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6pPr>
            <a:lvl7pPr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7pPr>
            <a:lvl8pPr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8pPr>
            <a:lvl9pPr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  <a:r>
              <a:rPr sz="2550" b="0">
                <a:solidFill>
                  <a:srgbClr val="606060"/>
                </a:solidFill>
                <a:latin typeface="UpMax"/>
                <a:ea typeface="UpMax"/>
                <a:cs typeface="UpMax"/>
              </a:rPr>
              <a:t>НБРК №231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946BB4-BFF8-4955-9DDF-22E42ECE9C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3e1b204d243ab">
            <a:extLst>
              <a:ext uri="{96DAC541-7B7A-43D3-8B79-37D633B846F1}">
                <asvg:svgBlip xmlns:asvg="http://schemas.microsoft.com/office/drawing/2016/SVG/main" r:embed="Rad0135cd902147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72600" y="2438400"/>
            <a:ext cx="1876425" cy="3086100"/>
          </a:xfrm>
          <a:prstGeom xmlns:a="http://schemas.openxmlformats.org/drawingml/2006/main" prst="rect">
            <a:avLst/>
          </a:prstGeom>
        </p:spPr>
      </p:pic>
      <p:sp>
        <p:nvSpPr>
          <p:cNvPr id="5" name="Доступ в кассовый узел">
            <a:extLst xmlns:a="http://schemas.openxmlformats.org/drawingml/2006/main">
              <a:ext uri="{FF2B5EF4-FFF2-40B4-BE49-F238E27FC236}">
                <a16:creationId xmlns:a16="http://schemas.microsoft.com/office/drawing/2014/main" id="{FC974D23-1ABC-4DAD-9805-74521C5B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3975" b="1">
                <a:solidFill>
                  <a:srgbClr val="191919"/>
                </a:solidFill>
                <a:latin typeface="UpMax"/>
                <a:ea typeface="UpMax"/>
                <a:cs typeface="UpMax"/>
              </a:rPr>
              <a:t>Доступ в кассовый узел</a:t>
            </a:r>
          </a:p>
        </p:txBody>
      </p:sp>
      <p:sp>
        <p:nvSpPr>
          <p:cNvPr id="6" name="НБРК №14">
            <a:extLst xmlns:a="http://schemas.openxmlformats.org/drawingml/2006/main">
              <a:ext uri="{FF2B5EF4-FFF2-40B4-BE49-F238E27FC236}">
                <a16:creationId xmlns:a16="http://schemas.microsoft.com/office/drawing/2014/main" id="{496B313C-BD8A-4C0D-8FCB-C115DE45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defPPr>
            <a:lvl1pPr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1pPr>
            <a:lvl2pPr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2pPr>
            <a:lvl3pPr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3pPr>
            <a:lvl4pPr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4pPr>
            <a:lvl5pPr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5pPr>
            <a:lvl6pPr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6pPr>
            <a:lvl7pPr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7pPr>
            <a:lvl8pPr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8pPr>
            <a:lvl9pPr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  <a:r>
              <a:rPr sz="2550" b="0">
                <a:solidFill>
                  <a:srgbClr val="606060"/>
                </a:solidFill>
                <a:latin typeface="UpMax"/>
                <a:ea typeface="UpMax"/>
                <a:cs typeface="UpMax"/>
              </a:rPr>
              <a:t>НБРК №14</a:t>
            </a:r>
          </a:p>
        </p:txBody>
      </p:sp>
      <p:sp>
        <p:nvSpPr>
          <p:cNvPr id="7" name="Применимость правила проверяет специалист">
            <a:extLst xmlns:a="http://schemas.openxmlformats.org/drawingml/2006/main">
              <a:ext uri="{FF2B5EF4-FFF2-40B4-BE49-F238E27FC236}">
                <a16:creationId xmlns:a16="http://schemas.microsoft.com/office/drawing/2014/main" id="{1F347109-1CDA-46C0-BF5F-0C724FD3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2100" b="0">
                <a:solidFill>
                  <a:srgbClr val="A31551"/>
                </a:solidFill>
                <a:latin typeface="UpMax"/>
                <a:ea typeface="UpMax"/>
                <a:cs typeface="UpMax"/>
              </a:rPr>
              <a:t>Применимость правила проверяет специалист</a:t>
            </a:r>
          </a:p>
        </p:txBody>
      </p:sp>
    </p:spTree>
    <p:extLst>
      <p:ext uri="{BB962C8B-B14F-4D97-AF65-F5344CB8AC3E}">
        <p14:creationId xmlns:p14="http://schemas.microsoft.com/office/powerpoint/2010/main" val="66651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34 из 40">
            <a:extLst xmlns:a="http://schemas.openxmlformats.org/drawingml/2006/main">
              <a:ext uri="{FF2B5EF4-FFF2-40B4-BE49-F238E27FC236}">
                <a16:creationId xmlns:a16="http://schemas.microsoft.com/office/drawing/2014/main" id="{28302DF7-02BC-452E-ACA5-CD1904F0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9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defRPr sz="79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defRPr sz="79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defRPr sz="79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defRPr sz="79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defRPr sz="79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defRPr sz="79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defRPr sz="79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defRPr sz="79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defRPr sz="79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79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7950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34 из 40</a:t>
            </a:r>
          </a:p>
        </p:txBody>
      </p:sp>
      <p:sp>
        <p:nvSpPr>
          <p:cNvPr id="2" name="верных вердикта">
            <a:extLst xmlns:a="http://schemas.openxmlformats.org/drawingml/2006/main">
              <a:ext uri="{FF2B5EF4-FFF2-40B4-BE49-F238E27FC236}">
                <a16:creationId xmlns:a16="http://schemas.microsoft.com/office/drawing/2014/main" id="{073CB9A2-EADF-4E5E-8516-4B438775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defRPr sz="322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defRPr sz="322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defRPr sz="322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defRPr sz="322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defRPr sz="322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defRPr sz="322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defRPr sz="322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defRPr sz="322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defRPr sz="322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22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3225" b="0">
                <a:solidFill>
                  <a:srgbClr val="191919"/>
                </a:solidFill>
                <a:latin typeface="UpMax"/>
                <a:ea typeface="UpMax"/>
                <a:cs typeface="UpMax"/>
              </a:rPr>
              <a:t>верных вердикта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924550D2-9666-407A-8F5A-BF725A23A505}"/>
              </a:ext>
            </a:extLst>
          </p:cNvPr>
          <p:cNvGraphicFramePr/>
          <p:nvPr/>
        </p:nvGraphicFramePr>
        <p:xfrm>
          <a:off xmlns:a="http://schemas.openxmlformats.org/drawingml/2006/main" x="666750" y="2895600"/>
          <a:ext xmlns:a="http://schemas.openxmlformats.org/drawingml/2006/main" cx="1057275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013907bc4d4b3b"/>
          </a:graphicData>
        </a:graphic>
      </p:graphicFrame>
      <p:sp>
        <p:nvSpPr>
          <p:cNvPr id="4" name="0 ложных тревог">
            <a:extLst xmlns:a="http://schemas.openxmlformats.org/drawingml/2006/main">
              <a:ext uri="{FF2B5EF4-FFF2-40B4-BE49-F238E27FC236}">
                <a16:creationId xmlns:a16="http://schemas.microsoft.com/office/drawing/2014/main" id="{3D47C18F-4F10-4072-AB5A-41CA8DAE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542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3225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0 ложных тревог</a:t>
            </a:r>
          </a:p>
        </p:txBody>
      </p:sp>
      <p:sp>
        <p:nvSpPr>
          <p:cNvPr id="5" name="6 пропусков">
            <a:extLst xmlns:a="http://schemas.openxmlformats.org/drawingml/2006/main">
              <a:ext uri="{FF2B5EF4-FFF2-40B4-BE49-F238E27FC236}">
                <a16:creationId xmlns:a16="http://schemas.microsoft.com/office/drawing/2014/main" id="{960A25CF-DF6B-45FA-84F7-9E04ACDE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8160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defRPr sz="32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defRPr sz="32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defRPr sz="32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defRPr sz="32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defRPr sz="32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defRPr sz="32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defRPr sz="32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defRPr sz="32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defRPr sz="32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2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3225" b="1">
                <a:solidFill>
                  <a:srgbClr val="191919"/>
                </a:solidFill>
                <a:latin typeface="UpMax"/>
                <a:ea typeface="UpMax"/>
                <a:cs typeface="UpMax"/>
              </a:rPr>
              <a:t>6 пропусков</a:t>
            </a:r>
          </a:p>
        </p:txBody>
      </p:sp>
      <p:sp>
        <p:nvSpPr>
          <p:cNvPr id="6" name="Те же 40 development-видео. Не независимый тест.">
            <a:extLst xmlns:a="http://schemas.openxmlformats.org/drawingml/2006/main">
              <a:ext uri="{FF2B5EF4-FFF2-40B4-BE49-F238E27FC236}">
                <a16:creationId xmlns:a16="http://schemas.microsoft.com/office/drawing/2014/main" id="{2B1BD24C-E050-442E-AA30-BAFF65BF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defPPr>
            <a:lvl1pPr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1pPr>
            <a:lvl2pPr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2pPr>
            <a:lvl3pPr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3pPr>
            <a:lvl4pPr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4pPr>
            <a:lvl5pPr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5pPr>
            <a:lvl6pPr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6pPr>
            <a:lvl7pPr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7pPr>
            <a:lvl8pPr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8pPr>
            <a:lvl9pPr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  <a:r>
              <a:rPr sz="2025" b="0">
                <a:solidFill>
                  <a:srgbClr val="606060"/>
                </a:solidFill>
                <a:latin typeface="UpMax"/>
                <a:ea typeface="UpMax"/>
                <a:cs typeface="UpMax"/>
              </a:rPr>
              <a:t>Те же 40 development-видео. Не независимый тест.</a:t>
            </a:r>
          </a:p>
        </p:txBody>
      </p:sp>
    </p:spTree>
    <p:extLst>
      <p:ext uri="{BB962C8B-B14F-4D97-AF65-F5344CB8AC3E}">
        <p14:creationId xmlns:p14="http://schemas.microsoft.com/office/powerpoint/2010/main" val="5069993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A3155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0DFAE-7310-41E4-BCFF-C1981C044D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80ee679ed4157">
            <a:extLst>
              <a:ext uri="{96DAC541-7B7A-43D3-8B79-37D633B846F1}">
                <asvg:svgBlip xmlns:asvg="http://schemas.microsoft.com/office/drawing/2016/SVG/main" r:embed="Ra5ed64e44c8a4b6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3143250"/>
            <a:ext cx="12192000" cy="3190875"/>
          </a:xfrm>
          <a:prstGeom xmlns:a="http://schemas.openxmlformats.org/drawingml/2006/main" prst="rect">
            <a:avLst/>
          </a:prstGeom>
        </p:spPr>
      </p:pic>
      <p:sp>
        <p:nvSpPr>
          <p:cNvPr id="2" name="Точность времени">
            <a:extLst xmlns:a="http://schemas.openxmlformats.org/drawingml/2006/main">
              <a:ext uri="{FF2B5EF4-FFF2-40B4-BE49-F238E27FC236}">
                <a16:creationId xmlns:a16="http://schemas.microsoft.com/office/drawing/2014/main" id="{DAC6AC63-4902-42FE-BC05-8EFC3AEE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63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63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63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63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63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63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63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63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63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63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63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637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Точность времени</a:t>
            </a:r>
          </a:p>
        </p:txBody>
      </p:sp>
      <p:sp>
        <p:nvSpPr>
          <p:cNvPr id="3" name="1,5 с">
            <a:extLst xmlns:a="http://schemas.openxmlformats.org/drawingml/2006/main">
              <a:ext uri="{FF2B5EF4-FFF2-40B4-BE49-F238E27FC236}">
                <a16:creationId xmlns:a16="http://schemas.microsoft.com/office/drawing/2014/main" id="{B674FE27-227D-4E06-8D11-1515126D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666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1275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1275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1275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1275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1275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1275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1275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1275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1275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275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12750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1,5 с</a:t>
            </a:r>
          </a:p>
        </p:txBody>
      </p:sp>
      <p:sp>
        <p:nvSpPr>
          <p:cNvPr id="4" name="медианная ошибка">
            <a:extLst xmlns:a="http://schemas.openxmlformats.org/drawingml/2006/main">
              <a:ext uri="{FF2B5EF4-FFF2-40B4-BE49-F238E27FC236}">
                <a16:creationId xmlns:a16="http://schemas.microsoft.com/office/drawing/2014/main" id="{47258A69-A3EE-4E93-8923-4AA3BEC6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657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30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30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30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30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30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30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30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30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30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3075" b="0">
                <a:solidFill>
                  <a:srgbClr val="F2F2F2"/>
                </a:solidFill>
                <a:latin typeface="UpMax"/>
                <a:ea typeface="UpMax"/>
                <a:cs typeface="UpMax"/>
              </a:rPr>
              <a:t>медианная ошибка</a:t>
            </a:r>
          </a:p>
        </p:txBody>
      </p:sp>
      <p:sp>
        <p:nvSpPr>
          <p:cNvPr id="5" name="11 / 15">
            <a:extLst xmlns:a="http://schemas.openxmlformats.org/drawingml/2006/main">
              <a:ext uri="{FF2B5EF4-FFF2-40B4-BE49-F238E27FC236}">
                <a16:creationId xmlns:a16="http://schemas.microsoft.com/office/drawing/2014/main" id="{A80822AD-E231-4EB5-9B90-607C59AF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860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57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57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57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57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57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57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57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57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57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57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57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5700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11 / 15</a:t>
            </a:r>
          </a:p>
        </p:txBody>
      </p:sp>
      <p:sp>
        <p:nvSpPr>
          <p:cNvPr id="6" name="в пределах 2 с">
            <a:extLst xmlns:a="http://schemas.openxmlformats.org/drawingml/2006/main">
              <a:ext uri="{FF2B5EF4-FFF2-40B4-BE49-F238E27FC236}">
                <a16:creationId xmlns:a16="http://schemas.microsoft.com/office/drawing/2014/main" id="{B80C5A05-470E-4C5D-8804-7D1337C7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90925"/>
            <a:ext cx="342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25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25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25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25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25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25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25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25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25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5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2550" b="0">
                <a:solidFill>
                  <a:srgbClr val="F2F2F2"/>
                </a:solidFill>
                <a:latin typeface="UpMax"/>
                <a:ea typeface="UpMax"/>
                <a:cs typeface="UpMax"/>
              </a:rPr>
              <a:t>в пределах 2 с</a:t>
            </a:r>
          </a:p>
        </p:txBody>
      </p:sp>
      <p:sp>
        <p:nvSpPr>
          <p:cNvPr id="7" name="Было 1,0 с и 12 / 15. Локализация ухудшилась.">
            <a:extLst xmlns:a="http://schemas.openxmlformats.org/drawingml/2006/main">
              <a:ext uri="{FF2B5EF4-FFF2-40B4-BE49-F238E27FC236}">
                <a16:creationId xmlns:a16="http://schemas.microsoft.com/office/drawing/2014/main" id="{94DBEBB5-8491-4D80-80AC-4FEAC83A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22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22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22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22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22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22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22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22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22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2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2250" b="0">
                <a:solidFill>
                  <a:srgbClr val="F2F2F2"/>
                </a:solidFill>
                <a:latin typeface="UpMax"/>
                <a:ea typeface="UpMax"/>
                <a:cs typeface="UpMax"/>
              </a:rPr>
              <a:t>Было 1,0 с и 12 / 15. Локализация ухудшилась.</a:t>
            </a:r>
          </a:p>
        </p:txBody>
      </p:sp>
    </p:spTree>
    <p:extLst>
      <p:ext uri="{BB962C8B-B14F-4D97-AF65-F5344CB8AC3E}">
        <p14:creationId xmlns:p14="http://schemas.microsoft.com/office/powerpoint/2010/main" val="9461630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6 загрузок. 6 результатов">
            <a:extLst xmlns:a="http://schemas.openxmlformats.org/drawingml/2006/main">
              <a:ext uri="{FF2B5EF4-FFF2-40B4-BE49-F238E27FC236}">
                <a16:creationId xmlns:a16="http://schemas.microsoft.com/office/drawing/2014/main" id="{916B1E7E-EAA7-4AC1-B5DE-90160C66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5250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6 загрузок. 6 результатов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8C88E441-B051-4346-A072-745F20BA9EEC}"/>
              </a:ext>
            </a:extLst>
          </p:cNvPr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7715250" cy="3438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ad8bf282a44d0d"/>
          </a:graphicData>
        </a:graphic>
      </p:graphicFrame>
      <p:sp>
        <p:nvSpPr>
          <p:cNvPr id="3" name="142,6 с">
            <a:extLst xmlns:a="http://schemas.openxmlformats.org/drawingml/2006/main">
              <a:ext uri="{FF2B5EF4-FFF2-40B4-BE49-F238E27FC236}">
                <a16:creationId xmlns:a16="http://schemas.microsoft.com/office/drawing/2014/main" id="{F115FD0E-27E7-4E30-A196-0E4C2D83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6217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5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defRPr sz="45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defRPr sz="45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defRPr sz="45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defRPr sz="45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defRPr sz="45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defRPr sz="45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defRPr sz="45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defRPr sz="45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defRPr sz="45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45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4575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142,6 с</a:t>
            </a:r>
          </a:p>
        </p:txBody>
      </p:sp>
      <p:sp>
        <p:nvSpPr>
          <p:cNvPr id="4" name="максимум">
            <a:extLst xmlns:a="http://schemas.openxmlformats.org/drawingml/2006/main">
              <a:ext uri="{FF2B5EF4-FFF2-40B4-BE49-F238E27FC236}">
                <a16:creationId xmlns:a16="http://schemas.microsoft.com/office/drawing/2014/main" id="{07BF121D-2F2B-4E3E-89B0-D7F54D60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9562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defPPr>
            <a:lvl1pPr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1pPr>
            <a:lvl2pPr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2pPr>
            <a:lvl3pPr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3pPr>
            <a:lvl4pPr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4pPr>
            <a:lvl5pPr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5pPr>
            <a:lvl6pPr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6pPr>
            <a:lvl7pPr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7pPr>
            <a:lvl8pPr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8pPr>
            <a:lvl9pPr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  <a:r>
              <a:rPr sz="2325" b="0">
                <a:solidFill>
                  <a:srgbClr val="606060"/>
                </a:solidFill>
                <a:latin typeface="UpMax"/>
                <a:ea typeface="UpMax"/>
                <a:cs typeface="UpMax"/>
              </a:rPr>
              <a:t>максимум</a:t>
            </a:r>
          </a:p>
        </p:txBody>
      </p:sp>
      <p:sp>
        <p:nvSpPr>
          <p:cNvPr id="5" name="92,1 с">
            <a:extLst xmlns:a="http://schemas.openxmlformats.org/drawingml/2006/main">
              <a:ext uri="{FF2B5EF4-FFF2-40B4-BE49-F238E27FC236}">
                <a16:creationId xmlns:a16="http://schemas.microsoft.com/office/drawing/2014/main" id="{5A54616E-BAB7-464C-B7F7-818FD4B7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0527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5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defRPr sz="45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defRPr sz="45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defRPr sz="45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defRPr sz="45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defRPr sz="45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defRPr sz="45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defRPr sz="45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defRPr sz="45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defRPr sz="45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45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4575" b="1">
                <a:solidFill>
                  <a:srgbClr val="191919"/>
                </a:solidFill>
                <a:latin typeface="UpMax"/>
                <a:ea typeface="UpMax"/>
                <a:cs typeface="UpMax"/>
              </a:rPr>
              <a:t>92,1 с</a:t>
            </a:r>
          </a:p>
        </p:txBody>
      </p:sp>
      <p:sp>
        <p:nvSpPr>
          <p:cNvPr id="6" name="медиана">
            <a:extLst xmlns:a="http://schemas.openxmlformats.org/drawingml/2006/main">
              <a:ext uri="{FF2B5EF4-FFF2-40B4-BE49-F238E27FC236}">
                <a16:creationId xmlns:a16="http://schemas.microsoft.com/office/drawing/2014/main" id="{FE601064-68B1-4A17-B7E6-FC31EE96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3872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defPPr>
            <a:lvl1pPr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1pPr>
            <a:lvl2pPr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2pPr>
            <a:lvl3pPr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3pPr>
            <a:lvl4pPr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4pPr>
            <a:lvl5pPr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5pPr>
            <a:lvl6pPr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6pPr>
            <a:lvl7pPr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7pPr>
            <a:lvl8pPr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8pPr>
            <a:lvl9pPr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  <a:r>
              <a:rPr sz="2325" b="0">
                <a:solidFill>
                  <a:srgbClr val="606060"/>
                </a:solidFill>
                <a:latin typeface="UpMax"/>
                <a:ea typeface="UpMax"/>
                <a:cs typeface="UpMax"/>
              </a:rPr>
              <a:t>медиана</a:t>
            </a:r>
          </a:p>
        </p:txBody>
      </p:sp>
      <p:sp>
        <p:nvSpPr>
          <p:cNvPr id="7" name="Тёплый public HTTPS с GPU-хоста. Цель 30 с пока не достигнута.">
            <a:extLst xmlns:a="http://schemas.openxmlformats.org/drawingml/2006/main">
              <a:ext uri="{FF2B5EF4-FFF2-40B4-BE49-F238E27FC236}">
                <a16:creationId xmlns:a16="http://schemas.microsoft.com/office/drawing/2014/main" id="{E9D68F72-20D0-478C-9500-5E05CEED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defPPr>
            <a:lvl1pPr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1pPr>
            <a:lvl2pPr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2pPr>
            <a:lvl3pPr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3pPr>
            <a:lvl4pPr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4pPr>
            <a:lvl5pPr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5pPr>
            <a:lvl6pPr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6pPr>
            <a:lvl7pPr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7pPr>
            <a:lvl8pPr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8pPr>
            <a:lvl9pPr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  <a:r>
              <a:rPr sz="2025" b="0">
                <a:solidFill>
                  <a:srgbClr val="606060"/>
                </a:solidFill>
                <a:latin typeface="UpMax"/>
                <a:ea typeface="UpMax"/>
                <a:cs typeface="UpMax"/>
              </a:rPr>
              <a:t>Тёплый public HTTPS с GPU-хоста. Цель 30 с пока не достигнута.</a:t>
            </a:r>
          </a:p>
        </p:txBody>
      </p:sp>
    </p:spTree>
    <p:extLst>
      <p:ext uri="{BB962C8B-B14F-4D97-AF65-F5344CB8AC3E}">
        <p14:creationId xmlns:p14="http://schemas.microsoft.com/office/powerpoint/2010/main" val="7128389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919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Решение за человеком">
            <a:extLst xmlns:a="http://schemas.openxmlformats.org/drawingml/2006/main">
              <a:ext uri="{FF2B5EF4-FFF2-40B4-BE49-F238E27FC236}">
                <a16:creationId xmlns:a16="http://schemas.microsoft.com/office/drawing/2014/main" id="{DB995485-0080-4EDF-82D2-A778D315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6600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Решение за человеком</a:t>
            </a:r>
          </a:p>
        </p:txBody>
      </p:sp>
      <p:sp>
        <p:nvSpPr>
          <p:cNvPr id="2" name="Модель предлагает">
            <a:extLst xmlns:a="http://schemas.openxmlformats.org/drawingml/2006/main">
              <a:ext uri="{FF2B5EF4-FFF2-40B4-BE49-F238E27FC236}">
                <a16:creationId xmlns:a16="http://schemas.microsoft.com/office/drawing/2014/main" id="{D06ADABE-68B0-4845-A766-D593733C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517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Модель предлагает</a:t>
            </a:r>
          </a:p>
        </p:txBody>
      </p:sp>
      <p:sp>
        <p:nvSpPr>
          <p:cNvPr id="3" name="Проверяющий подтверждает">
            <a:extLst xmlns:a="http://schemas.openxmlformats.org/drawingml/2006/main">
              <a:ext uri="{FF2B5EF4-FFF2-40B4-BE49-F238E27FC236}">
                <a16:creationId xmlns:a16="http://schemas.microsoft.com/office/drawing/2014/main" id="{D664D344-7A0E-4D25-B9DA-4B2F9395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517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Проверяющий подтверждает</a:t>
            </a:r>
          </a:p>
        </p:txBody>
      </p:sp>
      <p:sp>
        <p:nvSpPr>
          <p:cNvPr id="4" name="Ошибка обработки остаётся ошибкой">
            <a:extLst xmlns:a="http://schemas.openxmlformats.org/drawingml/2006/main">
              <a:ext uri="{FF2B5EF4-FFF2-40B4-BE49-F238E27FC236}">
                <a16:creationId xmlns:a16="http://schemas.microsoft.com/office/drawing/2014/main" id="{C0084C55-2B84-4035-8D2B-5458F8B4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75" b="0">
                <a:solidFill>
                  <a:srgbClr val="E7AFCA"/>
                </a:solidFill>
                <a:latin typeface="UpMax"/>
                <a:ea typeface="UpMax"/>
                <a:cs typeface="UpMax"/>
              </a:defRPr>
            </a:defPPr>
            <a:lvl1pPr>
              <a:defRPr sz="2775" b="0">
                <a:solidFill>
                  <a:srgbClr val="E7AFCA"/>
                </a:solidFill>
                <a:latin typeface="UpMax"/>
                <a:ea typeface="UpMax"/>
                <a:cs typeface="UpMax"/>
              </a:defRPr>
            </a:lvl1pPr>
            <a:lvl2pPr>
              <a:defRPr sz="2775" b="0">
                <a:solidFill>
                  <a:srgbClr val="E7AFCA"/>
                </a:solidFill>
                <a:latin typeface="UpMax"/>
                <a:ea typeface="UpMax"/>
                <a:cs typeface="UpMax"/>
              </a:defRPr>
            </a:lvl2pPr>
            <a:lvl3pPr>
              <a:defRPr sz="2775" b="0">
                <a:solidFill>
                  <a:srgbClr val="E7AFCA"/>
                </a:solidFill>
                <a:latin typeface="UpMax"/>
                <a:ea typeface="UpMax"/>
                <a:cs typeface="UpMax"/>
              </a:defRPr>
            </a:lvl3pPr>
            <a:lvl4pPr>
              <a:defRPr sz="2775" b="0">
                <a:solidFill>
                  <a:srgbClr val="E7AFCA"/>
                </a:solidFill>
                <a:latin typeface="UpMax"/>
                <a:ea typeface="UpMax"/>
                <a:cs typeface="UpMax"/>
              </a:defRPr>
            </a:lvl4pPr>
            <a:lvl5pPr>
              <a:defRPr sz="2775" b="0">
                <a:solidFill>
                  <a:srgbClr val="E7AFCA"/>
                </a:solidFill>
                <a:latin typeface="UpMax"/>
                <a:ea typeface="UpMax"/>
                <a:cs typeface="UpMax"/>
              </a:defRPr>
            </a:lvl5pPr>
            <a:lvl6pPr>
              <a:defRPr sz="2775" b="0">
                <a:solidFill>
                  <a:srgbClr val="E7AFCA"/>
                </a:solidFill>
                <a:latin typeface="UpMax"/>
                <a:ea typeface="UpMax"/>
                <a:cs typeface="UpMax"/>
              </a:defRPr>
            </a:lvl6pPr>
            <a:lvl7pPr>
              <a:defRPr sz="2775" b="0">
                <a:solidFill>
                  <a:srgbClr val="E7AFCA"/>
                </a:solidFill>
                <a:latin typeface="UpMax"/>
                <a:ea typeface="UpMax"/>
                <a:cs typeface="UpMax"/>
              </a:defRPr>
            </a:lvl7pPr>
            <a:lvl8pPr>
              <a:defRPr sz="2775" b="0">
                <a:solidFill>
                  <a:srgbClr val="E7AFCA"/>
                </a:solidFill>
                <a:latin typeface="UpMax"/>
                <a:ea typeface="UpMax"/>
                <a:cs typeface="UpMax"/>
              </a:defRPr>
            </a:lvl8pPr>
            <a:lvl9pPr>
              <a:defRPr sz="2775" b="0">
                <a:solidFill>
                  <a:srgbClr val="E7AFCA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775" b="0">
                <a:solidFill>
                  <a:srgbClr val="E7AFCA"/>
                </a:solidFill>
                <a:latin typeface="UpMax"/>
                <a:ea typeface="UpMax"/>
                <a:cs typeface="UpMax"/>
              </a:defRPr>
            </a:pPr>
            <a:r>
              <a:rPr sz="2775" b="0">
                <a:solidFill>
                  <a:srgbClr val="E7AFCA"/>
                </a:solidFill>
                <a:latin typeface="UpMax"/>
                <a:ea typeface="UpMax"/>
                <a:cs typeface="UpMax"/>
              </a:rPr>
              <a:t>Ошибка обработки остаётся ошибкой</a:t>
            </a:r>
          </a:p>
        </p:txBody>
      </p:sp>
    </p:spTree>
    <p:extLst>
      <p:ext uri="{BB962C8B-B14F-4D97-AF65-F5344CB8AC3E}">
        <p14:creationId xmlns:p14="http://schemas.microsoft.com/office/powerpoint/2010/main" val="20368012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Следующая проверка">
            <a:extLst xmlns:a="http://schemas.openxmlformats.org/drawingml/2006/main">
              <a:ext uri="{FF2B5EF4-FFF2-40B4-BE49-F238E27FC236}">
                <a16:creationId xmlns:a16="http://schemas.microsoft.com/office/drawing/2014/main" id="{B4E17B17-3CEE-46B2-8C7E-C21D821C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64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defRPr sz="64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defRPr sz="64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defRPr sz="64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defRPr sz="64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defRPr sz="64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defRPr sz="64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defRPr sz="64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defRPr sz="64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defRPr sz="64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64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6450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Следующая проверка</a:t>
            </a:r>
          </a:p>
        </p:txBody>
      </p:sp>
      <p:sp>
        <p:nvSpPr>
          <p:cNvPr id="2" name="Новые ракурсы">
            <a:extLst xmlns:a="http://schemas.openxmlformats.org/drawingml/2006/main">
              <a:ext uri="{FF2B5EF4-FFF2-40B4-BE49-F238E27FC236}">
                <a16:creationId xmlns:a16="http://schemas.microsoft.com/office/drawing/2014/main" id="{4AC783FC-9F57-4833-8022-2CCEEE63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3825" b="1">
                <a:solidFill>
                  <a:srgbClr val="191919"/>
                </a:solidFill>
                <a:latin typeface="UpMax"/>
                <a:ea typeface="UpMax"/>
                <a:cs typeface="UpMax"/>
              </a:rPr>
              <a:t>Новые ракурсы</a:t>
            </a:r>
          </a:p>
        </p:txBody>
      </p:sp>
      <p:sp>
        <p:nvSpPr>
          <p:cNvPr id="3" name="Независимый набор видео">
            <a:extLst xmlns:a="http://schemas.openxmlformats.org/drawingml/2006/main">
              <a:ext uri="{FF2B5EF4-FFF2-40B4-BE49-F238E27FC236}">
                <a16:creationId xmlns:a16="http://schemas.microsoft.com/office/drawing/2014/main" id="{1F39FA34-F7E7-44AD-BB7F-E6D95DC5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86000"/>
            <a:ext cx="4619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2325" b="0">
                <a:solidFill>
                  <a:srgbClr val="A31551"/>
                </a:solidFill>
                <a:latin typeface="UpMax"/>
                <a:ea typeface="UpMax"/>
                <a:cs typeface="UpMax"/>
              </a:rPr>
              <a:t>Независимый набор видео</a:t>
            </a:r>
          </a:p>
        </p:txBody>
      </p:sp>
      <p:sp>
        <p:nvSpPr>
          <p:cNvPr id="4" name="Пропуски событий">
            <a:extLst xmlns:a="http://schemas.openxmlformats.org/drawingml/2006/main">
              <a:ext uri="{FF2B5EF4-FFF2-40B4-BE49-F238E27FC236}">
                <a16:creationId xmlns:a16="http://schemas.microsoft.com/office/drawing/2014/main" id="{68DEEEE9-622A-427D-A43D-FEF187A4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3825" b="1">
                <a:solidFill>
                  <a:srgbClr val="191919"/>
                </a:solidFill>
                <a:latin typeface="UpMax"/>
                <a:ea typeface="UpMax"/>
                <a:cs typeface="UpMax"/>
              </a:rPr>
              <a:t>Пропуски событий</a:t>
            </a:r>
          </a:p>
        </p:txBody>
      </p:sp>
      <p:sp>
        <p:nvSpPr>
          <p:cNvPr id="5" name="Сейчас 6 из 21 положительных">
            <a:extLst xmlns:a="http://schemas.openxmlformats.org/drawingml/2006/main">
              <a:ext uri="{FF2B5EF4-FFF2-40B4-BE49-F238E27FC236}">
                <a16:creationId xmlns:a16="http://schemas.microsoft.com/office/drawing/2014/main" id="{72419765-8AA2-4D3C-B508-8146909C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90925"/>
            <a:ext cx="4619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2325" b="0">
                <a:solidFill>
                  <a:srgbClr val="A31551"/>
                </a:solidFill>
                <a:latin typeface="UpMax"/>
                <a:ea typeface="UpMax"/>
                <a:cs typeface="UpMax"/>
              </a:rPr>
              <a:t>Сейчас 6 из 21 положительных</a:t>
            </a:r>
          </a:p>
        </p:txBody>
      </p:sp>
      <p:sp>
        <p:nvSpPr>
          <p:cNvPr id="6" name="Скорость">
            <a:extLst xmlns:a="http://schemas.openxmlformats.org/drawingml/2006/main">
              <a:ext uri="{FF2B5EF4-FFF2-40B4-BE49-F238E27FC236}">
                <a16:creationId xmlns:a16="http://schemas.microsoft.com/office/drawing/2014/main" id="{1EC2425B-BC4E-4B80-9995-57971A96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3825" b="1">
                <a:solidFill>
                  <a:srgbClr val="191919"/>
                </a:solidFill>
                <a:latin typeface="UpMax"/>
                <a:ea typeface="UpMax"/>
                <a:cs typeface="UpMax"/>
              </a:rPr>
              <a:t>Скорость</a:t>
            </a:r>
          </a:p>
        </p:txBody>
      </p:sp>
      <p:sp>
        <p:nvSpPr>
          <p:cNvPr id="7" name="Цель 30 секунд">
            <a:extLst xmlns:a="http://schemas.openxmlformats.org/drawingml/2006/main">
              <a:ext uri="{FF2B5EF4-FFF2-40B4-BE49-F238E27FC236}">
                <a16:creationId xmlns:a16="http://schemas.microsoft.com/office/drawing/2014/main" id="{2DF2D68C-19DB-4490-9811-EBE12D11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95850"/>
            <a:ext cx="4619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2325" b="0">
                <a:solidFill>
                  <a:srgbClr val="A31551"/>
                </a:solidFill>
                <a:latin typeface="UpMax"/>
                <a:ea typeface="UpMax"/>
                <a:cs typeface="UpMax"/>
              </a:rPr>
              <a:t>Цель 30 секунд</a:t>
            </a:r>
          </a:p>
        </p:txBody>
      </p:sp>
    </p:spTree>
    <p:extLst>
      <p:ext uri="{BB962C8B-B14F-4D97-AF65-F5344CB8AC3E}">
        <p14:creationId xmlns:p14="http://schemas.microsoft.com/office/powerpoint/2010/main" val="11107272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A3155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5EF79-CABE-4FDD-AA15-51E8E98D3F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09735bfc24c35">
            <a:extLst>
              <a:ext uri="{96DAC541-7B7A-43D3-8B79-37D633B846F1}">
                <asvg:svgBlip xmlns:asvg="http://schemas.microsoft.com/office/drawing/2016/SVG/main" r:embed="R915dbf0469e444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2028825"/>
            <a:ext cx="12192000" cy="4095750"/>
          </a:xfrm>
          <a:prstGeom xmlns:a="http://schemas.openxmlformats.org/drawingml/2006/main" prst="rect">
            <a:avLst/>
          </a:prstGeom>
        </p:spPr>
      </p:pic>
      <p:sp>
        <p:nvSpPr>
          <p:cNvPr id="2" name="Команда WEZESO">
            <a:extLst xmlns:a="http://schemas.openxmlformats.org/drawingml/2006/main">
              <a:ext uri="{FF2B5EF4-FFF2-40B4-BE49-F238E27FC236}">
                <a16:creationId xmlns:a16="http://schemas.microsoft.com/office/drawing/2014/main" id="{FF0BFFAB-269D-402B-B4F5-6B10DDE7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6600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Команда WEZESO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04FE8-1687-4B51-8E37-15BA6D2A97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cbceeae2742b4"/>
          <a:stretch xmlns:a="http://schemas.openxmlformats.org/drawingml/2006/main"/>
        </p:blipFill>
        <p:spPr>
          <a:xfrm xmlns:a="http://schemas.openxmlformats.org/drawingml/2006/main">
            <a:off x="1666875" y="2171700"/>
            <a:ext cx="3952875" cy="39528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8D366-F1E9-4486-AAA3-6C5BFA30DE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4d7467f7e4e9e"/>
          <a:stretch xmlns:a="http://schemas.openxmlformats.org/drawingml/2006/main"/>
        </p:blipFill>
        <p:spPr>
          <a:xfrm xmlns:a="http://schemas.openxmlformats.org/drawingml/2006/main">
            <a:off x="6524625" y="2171700"/>
            <a:ext cx="3952875" cy="3952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0741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9DDF3-70A6-4C11-866E-B542C338DA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b9e7411344c34">
            <a:extLst>
              <a:ext uri="{96DAC541-7B7A-43D3-8B79-37D633B846F1}">
                <asvg:svgBlip xmlns:asvg="http://schemas.microsoft.com/office/drawing/2016/SVG/main" r:embed="R23ce6a6ae8a44e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09575"/>
            <a:ext cx="1905000" cy="818290"/>
          </a:xfrm>
          <a:prstGeom xmlns:a="http://schemas.openxmlformats.org/drawingml/2006/main" prst="rect">
            <a:avLst/>
          </a:prstGeom>
        </p:spPr>
      </p:pic>
      <p:sp>
        <p:nvSpPr>
          <p:cNvPr id="2" name="Демо">
            <a:extLst xmlns:a="http://schemas.openxmlformats.org/drawingml/2006/main">
              <a:ext uri="{FF2B5EF4-FFF2-40B4-BE49-F238E27FC236}">
                <a16:creationId xmlns:a16="http://schemas.microsoft.com/office/drawing/2014/main" id="{E677FCFD-DFEC-4A13-ABFF-ECC201D4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0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10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10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10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10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10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10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10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10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10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1072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Демо</a:t>
            </a:r>
          </a:p>
        </p:txBody>
      </p:sp>
      <p:sp>
        <p:nvSpPr>
          <p:cNvPr id="3" name="hackathon.wezeso.me">
            <a:extLst xmlns:a="http://schemas.openxmlformats.org/drawingml/2006/main">
              <a:ext uri="{FF2B5EF4-FFF2-40B4-BE49-F238E27FC236}">
                <a16:creationId xmlns:a16="http://schemas.microsoft.com/office/drawing/2014/main" id="{94B05BF5-6C75-4B64-A9A4-ECC4157C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9525000" cy="614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3225" b="0">
                <a:solidFill>
                  <a:srgbClr val="F2F2F2"/>
                </a:solidFill>
                <a:latin typeface="UpMax"/>
                <a:ea typeface="UpMax"/>
                <a:cs typeface="UpMax"/>
                <a:hlinkClick xmlns:r="http://schemas.openxmlformats.org/officeDocument/2006/relationships" r:id="Rc33dcfe9e4984adb"/>
              </a:rPr>
              <a:t>hackathon.wezeso.me</a:t>
            </a:r>
          </a:p>
        </p:txBody>
      </p:sp>
      <p:sp>
        <p:nvSpPr>
          <p:cNvPr id="4" name="github.com/Wezzeso/forte">
            <a:extLst xmlns:a="http://schemas.openxmlformats.org/drawingml/2006/main">
              <a:ext uri="{FF2B5EF4-FFF2-40B4-BE49-F238E27FC236}">
                <a16:creationId xmlns:a16="http://schemas.microsoft.com/office/drawing/2014/main" id="{81F58B01-D708-4BAD-8C8D-F811D483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95250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D0D0D0"/>
                </a:solidFill>
                <a:latin typeface="UpMax"/>
                <a:ea typeface="UpMax"/>
                <a:cs typeface="UpMax"/>
              </a:defRPr>
            </a:defPPr>
            <a:lvl1pPr>
              <a:defRPr sz="2325" b="0">
                <a:solidFill>
                  <a:srgbClr val="D0D0D0"/>
                </a:solidFill>
                <a:latin typeface="UpMax"/>
                <a:ea typeface="UpMax"/>
                <a:cs typeface="UpMax"/>
              </a:defRPr>
            </a:lvl1pPr>
            <a:lvl2pPr>
              <a:defRPr sz="2325" b="0">
                <a:solidFill>
                  <a:srgbClr val="D0D0D0"/>
                </a:solidFill>
                <a:latin typeface="UpMax"/>
                <a:ea typeface="UpMax"/>
                <a:cs typeface="UpMax"/>
              </a:defRPr>
            </a:lvl2pPr>
            <a:lvl3pPr>
              <a:defRPr sz="2325" b="0">
                <a:solidFill>
                  <a:srgbClr val="D0D0D0"/>
                </a:solidFill>
                <a:latin typeface="UpMax"/>
                <a:ea typeface="UpMax"/>
                <a:cs typeface="UpMax"/>
              </a:defRPr>
            </a:lvl3pPr>
            <a:lvl4pPr>
              <a:defRPr sz="2325" b="0">
                <a:solidFill>
                  <a:srgbClr val="D0D0D0"/>
                </a:solidFill>
                <a:latin typeface="UpMax"/>
                <a:ea typeface="UpMax"/>
                <a:cs typeface="UpMax"/>
              </a:defRPr>
            </a:lvl4pPr>
            <a:lvl5pPr>
              <a:defRPr sz="2325" b="0">
                <a:solidFill>
                  <a:srgbClr val="D0D0D0"/>
                </a:solidFill>
                <a:latin typeface="UpMax"/>
                <a:ea typeface="UpMax"/>
                <a:cs typeface="UpMax"/>
              </a:defRPr>
            </a:lvl5pPr>
            <a:lvl6pPr>
              <a:defRPr sz="2325" b="0">
                <a:solidFill>
                  <a:srgbClr val="D0D0D0"/>
                </a:solidFill>
                <a:latin typeface="UpMax"/>
                <a:ea typeface="UpMax"/>
                <a:cs typeface="UpMax"/>
              </a:defRPr>
            </a:lvl6pPr>
            <a:lvl7pPr>
              <a:defRPr sz="2325" b="0">
                <a:solidFill>
                  <a:srgbClr val="D0D0D0"/>
                </a:solidFill>
                <a:latin typeface="UpMax"/>
                <a:ea typeface="UpMax"/>
                <a:cs typeface="UpMax"/>
              </a:defRPr>
            </a:lvl7pPr>
            <a:lvl8pPr>
              <a:defRPr sz="2325" b="0">
                <a:solidFill>
                  <a:srgbClr val="D0D0D0"/>
                </a:solidFill>
                <a:latin typeface="UpMax"/>
                <a:ea typeface="UpMax"/>
                <a:cs typeface="UpMax"/>
              </a:defRPr>
            </a:lvl8pPr>
            <a:lvl9pPr>
              <a:defRPr sz="2325" b="0">
                <a:solidFill>
                  <a:srgbClr val="D0D0D0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325" b="0">
                <a:solidFill>
                  <a:srgbClr val="D0D0D0"/>
                </a:solidFill>
                <a:latin typeface="UpMax"/>
                <a:ea typeface="UpMax"/>
                <a:cs typeface="UpMax"/>
              </a:defRPr>
            </a:pPr>
            <a:r>
              <a:rPr sz="2325" b="0">
                <a:solidFill>
                  <a:srgbClr val="D0D0D0"/>
                </a:solidFill>
                <a:latin typeface="UpMax"/>
                <a:ea typeface="UpMax"/>
                <a:cs typeface="UpMax"/>
                <a:hlinkClick xmlns:r="http://schemas.openxmlformats.org/officeDocument/2006/relationships" r:id="R94269570287e4217"/>
              </a:rPr>
              <a:t>github.com/Wezzeso/forte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070D1-46E6-47FB-A689-528348DEFA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0353f70f548ea"/>
          <a:srcRect xmlns:a="http://schemas.openxmlformats.org/drawingml/2006/main" l="2000" t="27500" r="2000" b="50000"/>
          <a:stretch xmlns:a="http://schemas.openxmlformats.org/drawingml/2006/main"/>
        </p:blipFill>
        <p:spPr>
          <a:xfrm xmlns:a="http://schemas.openxmlformats.org/drawingml/2006/main">
            <a:off x="0" y="5467350"/>
            <a:ext cx="12192000" cy="1390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3327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Каталог событий">
            <a:extLst xmlns:a="http://schemas.openxmlformats.org/drawingml/2006/main">
              <a:ext uri="{FF2B5EF4-FFF2-40B4-BE49-F238E27FC236}">
                <a16:creationId xmlns:a16="http://schemas.microsoft.com/office/drawing/2014/main" id="{0224D1F4-83AE-4E9E-854C-A0F1FDB8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58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defRPr sz="58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defRPr sz="58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defRPr sz="58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defRPr sz="58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defRPr sz="58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defRPr sz="58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defRPr sz="58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defRPr sz="58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defRPr sz="58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58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5850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Каталог событий</a:t>
            </a:r>
          </a:p>
        </p:txBody>
      </p:sp>
      <p:sp>
        <p:nvSpPr>
          <p:cNvPr id="2" name="Активный профиль">
            <a:extLst xmlns:a="http://schemas.openxmlformats.org/drawingml/2006/main">
              <a:ext uri="{FF2B5EF4-FFF2-40B4-BE49-F238E27FC236}">
                <a16:creationId xmlns:a16="http://schemas.microsoft.com/office/drawing/2014/main" id="{CDFD4191-E6D6-412C-9043-7AB78396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defRPr sz="27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defRPr sz="27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defRPr sz="27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defRPr sz="27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defRPr sz="27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defRPr sz="27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defRPr sz="27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defRPr sz="27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defRPr sz="27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7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2775" b="1">
                <a:solidFill>
                  <a:srgbClr val="191919"/>
                </a:solidFill>
                <a:latin typeface="UpMax"/>
                <a:ea typeface="UpMax"/>
                <a:cs typeface="UpMax"/>
              </a:rPr>
              <a:t>Активный профиль</a:t>
            </a:r>
          </a:p>
        </p:txBody>
      </p:sp>
      <p:sp>
        <p:nvSpPr>
          <p:cNvPr id="3" name="Документы инкассатора">
            <a:extLst xmlns:a="http://schemas.openxmlformats.org/drawingml/2006/main">
              <a:ext uri="{FF2B5EF4-FFF2-40B4-BE49-F238E27FC236}">
                <a16:creationId xmlns:a16="http://schemas.microsoft.com/office/drawing/2014/main" id="{66887B3D-6385-42AC-8FE2-2F3F1039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2475" b="0">
                <a:solidFill>
                  <a:srgbClr val="191919"/>
                </a:solidFill>
                <a:latin typeface="UpMax"/>
                <a:ea typeface="UpMax"/>
                <a:cs typeface="UpMax"/>
              </a:rPr>
              <a:t>Документы инкассатора</a:t>
            </a:r>
          </a:p>
        </p:txBody>
      </p:sp>
      <p:sp>
        <p:nvSpPr>
          <p:cNvPr id="4" name="Пересчёт без клиента">
            <a:extLst xmlns:a="http://schemas.openxmlformats.org/drawingml/2006/main">
              <a:ext uri="{FF2B5EF4-FFF2-40B4-BE49-F238E27FC236}">
                <a16:creationId xmlns:a16="http://schemas.microsoft.com/office/drawing/2014/main" id="{A2947BF6-A3A5-4331-B579-4BCEE33E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2475" b="0">
                <a:solidFill>
                  <a:srgbClr val="191919"/>
                </a:solidFill>
                <a:latin typeface="UpMax"/>
                <a:ea typeface="UpMax"/>
                <a:cs typeface="UpMax"/>
              </a:rPr>
              <a:t>Пересчёт без клиента</a:t>
            </a:r>
          </a:p>
        </p:txBody>
      </p:sp>
      <p:sp>
        <p:nvSpPr>
          <p:cNvPr id="5" name="Предыдущая наличность">
            <a:extLst xmlns:a="http://schemas.openxmlformats.org/drawingml/2006/main">
              <a:ext uri="{FF2B5EF4-FFF2-40B4-BE49-F238E27FC236}">
                <a16:creationId xmlns:a16="http://schemas.microsoft.com/office/drawing/2014/main" id="{62742B61-4C2B-49AC-B054-A74EED8C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2475" b="0">
                <a:solidFill>
                  <a:srgbClr val="191919"/>
                </a:solidFill>
                <a:latin typeface="UpMax"/>
                <a:ea typeface="UpMax"/>
                <a:cs typeface="UpMax"/>
              </a:rPr>
              <a:t>Предыдущая наличность</a:t>
            </a:r>
          </a:p>
        </p:txBody>
      </p:sp>
      <p:sp>
        <p:nvSpPr>
          <p:cNvPr id="6" name="Ценности без присмотра">
            <a:extLst xmlns:a="http://schemas.openxmlformats.org/drawingml/2006/main">
              <a:ext uri="{FF2B5EF4-FFF2-40B4-BE49-F238E27FC236}">
                <a16:creationId xmlns:a16="http://schemas.microsoft.com/office/drawing/2014/main" id="{7C5516A2-BB87-4E46-866A-4F670D8C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2475" b="0">
                <a:solidFill>
                  <a:srgbClr val="191919"/>
                </a:solidFill>
                <a:latin typeface="UpMax"/>
                <a:ea typeface="UpMax"/>
                <a:cs typeface="UpMax"/>
              </a:rPr>
              <a:t>Ценности без присмотра</a:t>
            </a:r>
          </a:p>
        </p:txBody>
      </p:sp>
      <p:sp>
        <p:nvSpPr>
          <p:cNvPr id="7" name="Рабочая станция">
            <a:extLst xmlns:a="http://schemas.openxmlformats.org/drawingml/2006/main">
              <a:ext uri="{FF2B5EF4-FFF2-40B4-BE49-F238E27FC236}">
                <a16:creationId xmlns:a16="http://schemas.microsoft.com/office/drawing/2014/main" id="{413FF734-9EF7-4085-AB43-C65E87AD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2475" b="0">
                <a:solidFill>
                  <a:srgbClr val="191919"/>
                </a:solidFill>
                <a:latin typeface="UpMax"/>
                <a:ea typeface="UpMax"/>
                <a:cs typeface="UpMax"/>
              </a:rPr>
              <a:t>Рабочая станция</a:t>
            </a:r>
          </a:p>
        </p:txBody>
      </p:sp>
      <p:sp>
        <p:nvSpPr>
          <p:cNvPr id="8" name="Открытая дверь">
            <a:extLst xmlns:a="http://schemas.openxmlformats.org/drawingml/2006/main">
              <a:ext uri="{FF2B5EF4-FFF2-40B4-BE49-F238E27FC236}">
                <a16:creationId xmlns:a16="http://schemas.microsoft.com/office/drawing/2014/main" id="{CE0F13D8-6C28-484A-B8ED-A064383C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1470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2475" b="0">
                <a:solidFill>
                  <a:srgbClr val="191919"/>
                </a:solidFill>
                <a:latin typeface="UpMax"/>
                <a:ea typeface="UpMax"/>
                <a:cs typeface="UpMax"/>
              </a:rPr>
              <a:t>Открытая дверь</a:t>
            </a:r>
          </a:p>
        </p:txBody>
      </p:sp>
      <p:sp>
        <p:nvSpPr>
          <p:cNvPr id="9" name="Постороннее лицо">
            <a:extLst xmlns:a="http://schemas.openxmlformats.org/drawingml/2006/main">
              <a:ext uri="{FF2B5EF4-FFF2-40B4-BE49-F238E27FC236}">
                <a16:creationId xmlns:a16="http://schemas.microsoft.com/office/drawing/2014/main" id="{7452FA80-5C8C-4F2F-9C82-39059762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5765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2475" b="0">
                <a:solidFill>
                  <a:srgbClr val="191919"/>
                </a:solidFill>
                <a:latin typeface="UpMax"/>
                <a:ea typeface="UpMax"/>
                <a:cs typeface="UpMax"/>
              </a:rPr>
              <a:t>Постороннее лицо</a:t>
            </a:r>
          </a:p>
        </p:txBody>
      </p:sp>
      <p:sp>
        <p:nvSpPr>
          <p:cNvPr id="10" name="Личные вещи">
            <a:extLst xmlns:a="http://schemas.openxmlformats.org/drawingml/2006/main">
              <a:ext uri="{FF2B5EF4-FFF2-40B4-BE49-F238E27FC236}">
                <a16:creationId xmlns:a16="http://schemas.microsoft.com/office/drawing/2014/main" id="{D7C220EB-AB02-432B-BC64-95040F02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0060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2475" b="0">
                <a:solidFill>
                  <a:srgbClr val="191919"/>
                </a:solidFill>
                <a:latin typeface="UpMax"/>
                <a:ea typeface="UpMax"/>
                <a:cs typeface="UpMax"/>
              </a:rPr>
              <a:t>Личные вещи</a:t>
            </a:r>
          </a:p>
        </p:txBody>
      </p:sp>
      <p:sp>
        <p:nvSpPr>
          <p:cNvPr id="11" name="Ещё 6 типов отключены. Точность по типам не измерена.">
            <a:extLst xmlns:a="http://schemas.openxmlformats.org/drawingml/2006/main">
              <a:ext uri="{FF2B5EF4-FFF2-40B4-BE49-F238E27FC236}">
                <a16:creationId xmlns:a16="http://schemas.microsoft.com/office/drawing/2014/main" id="{DC94F38A-6E7B-41AE-8F3F-83E59171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2100" b="0">
                <a:solidFill>
                  <a:srgbClr val="A31551"/>
                </a:solidFill>
                <a:latin typeface="UpMax"/>
                <a:ea typeface="UpMax"/>
                <a:cs typeface="UpMax"/>
              </a:rPr>
              <a:t>Ещё 6 типов отключены. Точность по типам не измерена.</a:t>
            </a:r>
          </a:p>
        </p:txBody>
      </p:sp>
    </p:spTree>
    <p:extLst>
      <p:ext uri="{BB962C8B-B14F-4D97-AF65-F5344CB8AC3E}">
        <p14:creationId xmlns:p14="http://schemas.microsoft.com/office/powerpoint/2010/main" val="13783879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Что именно измерили">
            <a:extLst xmlns:a="http://schemas.openxmlformats.org/drawingml/2006/main">
              <a:ext uri="{FF2B5EF4-FFF2-40B4-BE49-F238E27FC236}">
                <a16:creationId xmlns:a16="http://schemas.microsoft.com/office/drawing/2014/main" id="{2302998D-079A-4FFD-9371-B83E15BA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56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defRPr sz="56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defRPr sz="56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defRPr sz="56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defRPr sz="56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defRPr sz="56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defRPr sz="56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defRPr sz="56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defRPr sz="56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defRPr sz="56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56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5625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Что именно измерили</a:t>
            </a:r>
          </a:p>
        </p:txBody>
      </p:sp>
      <p:sp>
        <p:nvSpPr>
          <p:cNvPr id="2" name="40 видео">
            <a:extLst xmlns:a="http://schemas.openxmlformats.org/drawingml/2006/main">
              <a:ext uri="{FF2B5EF4-FFF2-40B4-BE49-F238E27FC236}">
                <a16:creationId xmlns:a16="http://schemas.microsoft.com/office/drawing/2014/main" id="{9B6D1754-918A-4934-B8CC-A1D9842D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4950" b="1">
                <a:solidFill>
                  <a:srgbClr val="191919"/>
                </a:solidFill>
                <a:latin typeface="UpMax"/>
                <a:ea typeface="UpMax"/>
                <a:cs typeface="UpMax"/>
              </a:rPr>
              <a:t>40 видео</a:t>
            </a:r>
          </a:p>
        </p:txBody>
      </p:sp>
      <p:sp>
        <p:nvSpPr>
          <p:cNvPr id="3" name="Вердикт и время события Разработка на том же наборе">
            <a:extLst xmlns:a="http://schemas.openxmlformats.org/drawingml/2006/main">
              <a:ext uri="{FF2B5EF4-FFF2-40B4-BE49-F238E27FC236}">
                <a16:creationId xmlns:a16="http://schemas.microsoft.com/office/drawing/2014/main" id="{387235EC-B633-4B12-AD72-FF828455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571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defPPr>
            <a:lvl1pPr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1pPr>
            <a:lvl2pPr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2pPr>
            <a:lvl3pPr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3pPr>
            <a:lvl4pPr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4pPr>
            <a:lvl5pPr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5pPr>
            <a:lvl6pPr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6pPr>
            <a:lvl7pPr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7pPr>
            <a:lvl8pPr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8pPr>
            <a:lvl9pPr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  <a:r>
              <a:rPr sz="2400" b="0">
                <a:solidFill>
                  <a:srgbClr val="606060"/>
                </a:solidFill>
                <a:latin typeface="UpMax"/>
                <a:ea typeface="UpMax"/>
                <a:cs typeface="UpMax"/>
              </a:rPr>
              <a:t>Вердикт и время события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  <a:r>
              <a:rPr sz="2400" b="0">
                <a:solidFill>
                  <a:srgbClr val="606060"/>
                </a:solidFill>
                <a:latin typeface="UpMax"/>
                <a:ea typeface="UpMax"/>
                <a:cs typeface="UpMax"/>
              </a:rPr>
              <a:t>Разработка на том же наборе</a:t>
            </a:r>
          </a:p>
        </p:txBody>
      </p:sp>
      <p:sp>
        <p:nvSpPr>
          <p:cNvPr id="4" name="6 загрузок">
            <a:extLst xmlns:a="http://schemas.openxmlformats.org/drawingml/2006/main">
              <a:ext uri="{FF2B5EF4-FFF2-40B4-BE49-F238E27FC236}">
                <a16:creationId xmlns:a16="http://schemas.microsoft.com/office/drawing/2014/main" id="{D1761F20-6BFF-4BD6-AF07-62068A3C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9550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4950" b="1">
                <a:solidFill>
                  <a:srgbClr val="191919"/>
                </a:solidFill>
                <a:latin typeface="UpMax"/>
                <a:ea typeface="UpMax"/>
                <a:cs typeface="UpMax"/>
              </a:rPr>
              <a:t>6 загрузок</a:t>
            </a:r>
          </a:p>
        </p:txBody>
      </p:sp>
      <p:sp>
        <p:nvSpPr>
          <p:cNvPr id="5" name="Публичный API и схема Тёплый запуск с GPU-хоста">
            <a:extLst xmlns:a="http://schemas.openxmlformats.org/drawingml/2006/main">
              <a:ext uri="{FF2B5EF4-FFF2-40B4-BE49-F238E27FC236}">
                <a16:creationId xmlns:a16="http://schemas.microsoft.com/office/drawing/2014/main" id="{60E475BD-A6AB-4A37-90A8-FF8CABB0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9562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defPPr>
            <a:lvl1pPr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1pPr>
            <a:lvl2pPr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2pPr>
            <a:lvl3pPr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3pPr>
            <a:lvl4pPr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4pPr>
            <a:lvl5pPr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5pPr>
            <a:lvl6pPr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6pPr>
            <a:lvl7pPr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7pPr>
            <a:lvl8pPr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8pPr>
            <a:lvl9pPr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  <a:r>
              <a:rPr sz="2400" b="0">
                <a:solidFill>
                  <a:srgbClr val="606060"/>
                </a:solidFill>
                <a:latin typeface="UpMax"/>
                <a:ea typeface="UpMax"/>
                <a:cs typeface="UpMax"/>
              </a:rPr>
              <a:t>Публичный API и схема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  <a:r>
              <a:rPr sz="2400" b="0">
                <a:solidFill>
                  <a:srgbClr val="606060"/>
                </a:solidFill>
                <a:latin typeface="UpMax"/>
                <a:ea typeface="UpMax"/>
                <a:cs typeface="UpMax"/>
              </a:rPr>
              <a:t>Тёплый запуск с GPU-хоста</a:t>
            </a:r>
          </a:p>
        </p:txBody>
      </p:sp>
      <p:sp>
        <p:nvSpPr>
          <p:cNvPr id="6" name="Новые ракурсы и типы событий ещё требуют проверки">
            <a:extLst xmlns:a="http://schemas.openxmlformats.org/drawingml/2006/main">
              <a:ext uri="{FF2B5EF4-FFF2-40B4-BE49-F238E27FC236}">
                <a16:creationId xmlns:a16="http://schemas.microsoft.com/office/drawing/2014/main" id="{E64A652F-876A-49C3-9DDA-C99270AE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3225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Новые ракурсы и типы событий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3225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ещё требуют проверки</a:t>
            </a:r>
          </a:p>
        </p:txBody>
      </p:sp>
    </p:spTree>
    <p:extLst>
      <p:ext uri="{BB962C8B-B14F-4D97-AF65-F5344CB8AC3E}">
        <p14:creationId xmlns:p14="http://schemas.microsoft.com/office/powerpoint/2010/main" val="2059985878"/>
      </p:ext>
    </p:extLst>
  </p:cSld>
</p:sld>
</file>

<file path=ppt/theme/theme1.xml><?xml version="1.0" encoding="utf-8"?>
<a:theme xmlns:a="http://schemas.openxmlformats.org/drawingml/2006/main" name="ChatGPT">
  <a:themeElements>
    <a:clrScheme name="FORTE">
      <a:dk1>
        <a:srgbClr val="191919"/>
      </a:dk1>
      <a:lt1>
        <a:srgbClr val="FFFFFF"/>
      </a:lt1>
      <a:dk2>
        <a:srgbClr val="861044"/>
      </a:dk2>
      <a:lt2>
        <a:srgbClr val="F2F2F2"/>
      </a:lt2>
      <a:accent1>
        <a:srgbClr val="A31551"/>
      </a:accent1>
      <a:accent2>
        <a:srgbClr val="861044"/>
      </a:accent2>
      <a:accent3>
        <a:srgbClr val="191919"/>
      </a:accent3>
      <a:accent4>
        <a:srgbClr val="C8C8C8"/>
      </a:accent4>
      <a:accent5>
        <a:srgbClr val="E8D1DB"/>
      </a:accent5>
      <a:accent6>
        <a:srgbClr val="6F6F6F"/>
      </a:accent6>
      <a:hlink>
        <a:srgbClr val="A31551"/>
      </a:hlink>
      <a:folHlink>
        <a:srgbClr val="861044"/>
      </a:folHlink>
    </a:clrScheme>
    <a:fontScheme name="">
      <a:majorFont>
        <a:latin typeface="UpMax"/>
        <a:ea typeface=""/>
        <a:cs typeface=""/>
      </a:majorFont>
      <a:minorFont>
        <a:latin typeface="UpMax"/>
        <a:ea typeface=""/>
        <a:cs typeface=""/>
      </a:minorFont>
    </a:fontScheme>
    <a:fmtScheme name="FOR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2026-10-18T02:43:51.6360000Z</dcterms:created>
  <dcterms:modified xsi:type="dcterms:W3CDTF">2026-10-18T02:43:51.6370000Z</dcterms:modified>
</coreProperties>
</file>